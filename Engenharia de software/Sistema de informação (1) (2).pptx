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4"/>
  </p:notesMasterIdLst>
  <p:handoutMasterIdLst>
    <p:handoutMasterId r:id="rId15"/>
  </p:handoutMasterIdLst>
  <p:sldIdLst>
    <p:sldId id="1497" r:id="rId5"/>
    <p:sldId id="1517" r:id="rId6"/>
    <p:sldId id="1514" r:id="rId7"/>
    <p:sldId id="1499" r:id="rId8"/>
    <p:sldId id="1515" r:id="rId9"/>
    <p:sldId id="1516" r:id="rId10"/>
    <p:sldId id="1500" r:id="rId11"/>
    <p:sldId id="1512" r:id="rId12"/>
    <p:sldId id="151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44E27D-429B-4FFE-B532-FA15F0D6CB0F}" v="19" dt="2026-08-25T19:01:38.599"/>
    <p1510:client id="{741E7272-7813-47B6-B32C-31340B40BD5D}" v="600" dt="2026-08-25T18:28:09.080"/>
    <p1510:client id="{80F4B68C-9BBA-8702-9A58-51CD337F721D}" v="169" dt="2026-08-25T14:18:18.123"/>
    <p1510:client id="{B76A1C38-304E-4ECF-9EA8-B9240B50E41C}" v="538" dt="2026-08-24T16:23:13.530"/>
    <p1510:client id="{C4445806-7A7C-3FF2-AFE0-F5860BF548FD}" v="50" dt="2026-08-25T12:29:29.411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8/25/2026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8/25/2026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ursosdeinformaticabasica.com.br/o-que-sao-objetos-na-orientacao-a-objetos/" TargetMode="External"/><Relationship Id="rId2" Type="http://schemas.openxmlformats.org/officeDocument/2006/relationships/hyperlink" Target="https://www.strava.com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479048"/>
            <a:ext cx="8686801" cy="2733800"/>
          </a:xfrm>
        </p:spPr>
        <p:txBody>
          <a:bodyPr>
            <a:normAutofit/>
          </a:bodyPr>
          <a:lstStyle/>
          <a:p>
            <a:r>
              <a:rPr lang="en-US" dirty="0"/>
              <a:t>Sistema de </a:t>
            </a:r>
            <a:r>
              <a:rPr lang="en-US" dirty="0" err="1"/>
              <a:t>informação</a:t>
            </a:r>
            <a:r>
              <a:rPr lang="en-US" dirty="0"/>
              <a:t>: STRAVA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13354"/>
            <a:ext cx="5117169" cy="560823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err="1">
                <a:cs typeface="Poppins Light"/>
              </a:rPr>
              <a:t>Apresentado</a:t>
            </a:r>
            <a:r>
              <a:rPr lang="en-US">
                <a:cs typeface="Poppins Light"/>
              </a:rPr>
              <a:t> </a:t>
            </a:r>
            <a:r>
              <a:rPr lang="en-US" err="1">
                <a:cs typeface="Poppins Light"/>
              </a:rPr>
              <a:t>por</a:t>
            </a:r>
            <a:r>
              <a:rPr lang="en-US">
                <a:cs typeface="Poppins Light"/>
              </a:rPr>
              <a:t> Maria Antônia, Thiago Tiago e Ricardo </a:t>
            </a:r>
          </a:p>
        </p:txBody>
      </p:sp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BC2B2-DB4D-085F-713A-EC5521C8B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800"/>
              <a:t>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0F2B112-BBBE-F4A8-5AB3-40E16F03117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pt-BR" sz="800"/>
              <a:t>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6346EDB-24B6-98CC-1228-4C52FDB7DF36}"/>
              </a:ext>
            </a:extLst>
          </p:cNvPr>
          <p:cNvSpPr txBox="1"/>
          <p:nvPr/>
        </p:nvSpPr>
        <p:spPr>
          <a:xfrm>
            <a:off x="1463040" y="3429000"/>
            <a:ext cx="2834640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4500" cap="all">
              <a:latin typeface="Lora"/>
            </a:endParaRPr>
          </a:p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9C8919A-C086-A09B-62D8-D9928FBE8938}"/>
              </a:ext>
            </a:extLst>
          </p:cNvPr>
          <p:cNvSpPr txBox="1"/>
          <p:nvPr/>
        </p:nvSpPr>
        <p:spPr>
          <a:xfrm>
            <a:off x="1728107" y="884464"/>
            <a:ext cx="3037840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500" cap="all" err="1">
                <a:solidFill>
                  <a:srgbClr val="000000"/>
                </a:solidFill>
                <a:latin typeface="Lora"/>
              </a:rPr>
              <a:t>Sumário</a:t>
            </a:r>
            <a:r>
              <a:rPr lang="en-US" sz="4500" cap="all">
                <a:latin typeface="Lora"/>
              </a:rPr>
              <a:t>:</a:t>
            </a:r>
            <a:r>
              <a:rPr lang="en-US" sz="4500" b="0" i="0">
                <a:solidFill>
                  <a:srgbClr val="000000"/>
                </a:solidFill>
                <a:latin typeface="Lora"/>
                <a:ea typeface="Lora"/>
                <a:cs typeface="Lora"/>
              </a:rPr>
              <a:t>​</a:t>
            </a:r>
            <a:endParaRPr lang="pt-BR">
              <a:cs typeface="Poppins Light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39358E6-B6CA-CBB6-0928-0808C2729A9E}"/>
              </a:ext>
            </a:extLst>
          </p:cNvPr>
          <p:cNvSpPr txBox="1"/>
          <p:nvPr/>
        </p:nvSpPr>
        <p:spPr>
          <a:xfrm>
            <a:off x="2435678" y="2066853"/>
            <a:ext cx="423672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>
              <a:buFont typeface="Arial"/>
              <a:buChar char="•"/>
            </a:pPr>
            <a:r>
              <a:rPr lang="pt-BR">
                <a:cs typeface="Poppins Light"/>
              </a:rPr>
              <a:t>Introdução..........................................3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Três objetos do sistema.......4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Atividades dos objetos..........5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Relações...............................................6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Exemplo no </a:t>
            </a:r>
            <a:r>
              <a:rPr lang="pt-BR" err="1">
                <a:cs typeface="Poppins Light"/>
              </a:rPr>
              <a:t>Strava</a:t>
            </a:r>
            <a:r>
              <a:rPr lang="pt-BR">
                <a:cs typeface="Poppins Light"/>
              </a:rPr>
              <a:t>......................7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Conclusão..........................................8</a:t>
            </a:r>
          </a:p>
          <a:p>
            <a:pPr marL="285750" indent="-285750">
              <a:buFont typeface="Arial"/>
              <a:buChar char="•"/>
            </a:pPr>
            <a:r>
              <a:rPr lang="pt-BR">
                <a:cs typeface="Poppins Light"/>
              </a:rPr>
              <a:t>Fontes.....................................................9</a:t>
            </a:r>
          </a:p>
        </p:txBody>
      </p:sp>
    </p:spTree>
    <p:extLst>
      <p:ext uri="{BB962C8B-B14F-4D97-AF65-F5344CB8AC3E}">
        <p14:creationId xmlns:p14="http://schemas.microsoft.com/office/powerpoint/2010/main" val="83227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FB56E-1A01-8D29-F217-638F3BEF6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907302"/>
            <a:ext cx="6353048" cy="1671445"/>
          </a:xfrm>
        </p:spPr>
        <p:txBody>
          <a:bodyPr/>
          <a:lstStyle/>
          <a:p>
            <a:r>
              <a:rPr lang="en-US" err="1"/>
              <a:t>Introdução:Sobre</a:t>
            </a:r>
            <a:r>
              <a:rPr lang="en-US"/>
              <a:t> o </a:t>
            </a:r>
            <a:r>
              <a:rPr lang="en-US" err="1"/>
              <a:t>sistema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9521F-CC42-235E-F804-B826A36205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5606781" cy="37575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Poppins Light"/>
              </a:rPr>
              <a:t> </a:t>
            </a:r>
            <a:r>
              <a:rPr lang="en-US" dirty="0">
                <a:ea typeface="+mn-lt"/>
                <a:cs typeface="+mn-lt"/>
              </a:rPr>
              <a:t>O Strava é um </a:t>
            </a:r>
            <a:r>
              <a:rPr lang="en-US" dirty="0" err="1">
                <a:ea typeface="+mn-lt"/>
                <a:cs typeface="+mn-lt"/>
              </a:rPr>
              <a:t>aplicativo</a:t>
            </a:r>
            <a:r>
              <a:rPr lang="en-US" dirty="0">
                <a:ea typeface="+mn-lt"/>
                <a:cs typeface="+mn-lt"/>
              </a:rPr>
              <a:t> de fitness e rede social </a:t>
            </a:r>
            <a:r>
              <a:rPr lang="en-US" dirty="0" err="1">
                <a:ea typeface="+mn-lt"/>
                <a:cs typeface="+mn-lt"/>
              </a:rPr>
              <a:t>voltado</a:t>
            </a:r>
            <a:r>
              <a:rPr lang="en-US" dirty="0">
                <a:ea typeface="+mn-lt"/>
                <a:cs typeface="+mn-lt"/>
              </a:rPr>
              <a:t> para o </a:t>
            </a:r>
            <a:r>
              <a:rPr lang="en-US" dirty="0" err="1">
                <a:ea typeface="+mn-lt"/>
                <a:cs typeface="+mn-lt"/>
              </a:rPr>
              <a:t>monitoramento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atividades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físicas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corrida, </a:t>
            </a:r>
            <a:r>
              <a:rPr lang="en-US" dirty="0" err="1">
                <a:ea typeface="+mn-lt"/>
                <a:cs typeface="+mn-lt"/>
              </a:rPr>
              <a:t>ciclismo</a:t>
            </a:r>
            <a:r>
              <a:rPr lang="en-US" dirty="0">
                <a:ea typeface="+mn-lt"/>
                <a:cs typeface="+mn-lt"/>
              </a:rPr>
              <a:t> e </a:t>
            </a:r>
            <a:r>
              <a:rPr lang="en-US" dirty="0" err="1">
                <a:ea typeface="+mn-lt"/>
                <a:cs typeface="+mn-lt"/>
              </a:rPr>
              <a:t>natação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funciona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também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uma</a:t>
            </a:r>
            <a:r>
              <a:rPr lang="en-US" dirty="0">
                <a:ea typeface="+mn-lt"/>
                <a:cs typeface="+mn-lt"/>
              </a:rPr>
              <a:t> rede social para </a:t>
            </a:r>
            <a:r>
              <a:rPr lang="en-US" dirty="0" err="1">
                <a:ea typeface="+mn-lt"/>
                <a:cs typeface="+mn-lt"/>
              </a:rPr>
              <a:t>atletas</a:t>
            </a:r>
            <a:r>
              <a:rPr lang="en-US" dirty="0">
                <a:ea typeface="+mn-lt"/>
                <a:cs typeface="+mn-lt"/>
              </a:rPr>
              <a:t>. Ele </a:t>
            </a:r>
            <a:r>
              <a:rPr lang="en-US" dirty="0" err="1">
                <a:ea typeface="+mn-lt"/>
                <a:cs typeface="+mn-lt"/>
              </a:rPr>
              <a:t>utiliza</a:t>
            </a:r>
            <a:r>
              <a:rPr lang="en-US" dirty="0">
                <a:ea typeface="+mn-lt"/>
                <a:cs typeface="+mn-lt"/>
              </a:rPr>
              <a:t> dados de GPS para registrar </a:t>
            </a:r>
            <a:r>
              <a:rPr lang="en-US" dirty="0" err="1">
                <a:ea typeface="+mn-lt"/>
                <a:cs typeface="+mn-lt"/>
              </a:rPr>
              <a:t>trajetos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cs typeface="Poppins Light"/>
            </a:endParaRPr>
          </a:p>
          <a:p>
            <a:r>
              <a:rPr lang="en-US" dirty="0">
                <a:cs typeface="Poppins Light"/>
              </a:rPr>
              <a:t>Ele serve para </a:t>
            </a:r>
            <a:r>
              <a:rPr lang="en-US" dirty="0" err="1">
                <a:cs typeface="Poppins Light"/>
              </a:rPr>
              <a:t>medir</a:t>
            </a:r>
            <a:r>
              <a:rPr lang="en-US" dirty="0">
                <a:cs typeface="Poppins Light"/>
              </a:rPr>
              <a:t> o  </a:t>
            </a:r>
            <a:r>
              <a:rPr lang="en-US" dirty="0" err="1">
                <a:cs typeface="Poppins Light"/>
              </a:rPr>
              <a:t>desempenho</a:t>
            </a:r>
            <a:r>
              <a:rPr lang="en-US" dirty="0">
                <a:cs typeface="Poppins Light"/>
              </a:rPr>
              <a:t> de </a:t>
            </a:r>
            <a:r>
              <a:rPr lang="en-US" dirty="0" err="1">
                <a:cs typeface="Poppins Light"/>
              </a:rPr>
              <a:t>algumas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atividades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físicas</a:t>
            </a:r>
            <a:r>
              <a:rPr lang="en-US" dirty="0">
                <a:cs typeface="Poppins Light"/>
              </a:rPr>
              <a:t> e </a:t>
            </a:r>
            <a:r>
              <a:rPr lang="en-US" dirty="0" err="1">
                <a:cs typeface="Poppins Light"/>
              </a:rPr>
              <a:t>permitir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interação</a:t>
            </a:r>
            <a:r>
              <a:rPr lang="en-US" dirty="0">
                <a:cs typeface="Poppins Light"/>
              </a:rPr>
              <a:t> entre </a:t>
            </a:r>
            <a:r>
              <a:rPr lang="en-US" dirty="0" err="1">
                <a:cs typeface="Poppins Light"/>
              </a:rPr>
              <a:t>usuários</a:t>
            </a:r>
            <a:r>
              <a:rPr lang="en-US" dirty="0">
                <a:cs typeface="Poppins Light"/>
              </a:rPr>
              <a:t>.</a:t>
            </a:r>
          </a:p>
          <a:p>
            <a:r>
              <a:rPr lang="en-US" dirty="0" err="1">
                <a:cs typeface="Poppins Light"/>
              </a:rPr>
              <a:t>Os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principais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usuários</a:t>
            </a:r>
            <a:r>
              <a:rPr lang="en-US" dirty="0">
                <a:cs typeface="Poppins Light"/>
              </a:rPr>
              <a:t> </a:t>
            </a:r>
            <a:r>
              <a:rPr lang="en-US" dirty="0" err="1">
                <a:cs typeface="Poppins Light"/>
              </a:rPr>
              <a:t>são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pessoas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voltadas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a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atividades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físicas</a:t>
            </a:r>
            <a:r>
              <a:rPr lang="en-US" dirty="0">
                <a:cs typeface="Poppins Light"/>
              </a:rPr>
              <a:t>, tanto </a:t>
            </a:r>
            <a:r>
              <a:rPr lang="en-US" dirty="0" err="1">
                <a:cs typeface="Poppins Light"/>
              </a:rPr>
              <a:t>atletas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amadores</a:t>
            </a:r>
            <a:r>
              <a:rPr lang="en-US" dirty="0">
                <a:cs typeface="Poppins Light"/>
              </a:rPr>
              <a:t>, </a:t>
            </a:r>
            <a:r>
              <a:rPr lang="en-US" dirty="0" err="1">
                <a:cs typeface="Poppins Light"/>
              </a:rPr>
              <a:t>quanto</a:t>
            </a:r>
            <a:r>
              <a:rPr lang="en-US" dirty="0">
                <a:cs typeface="Poppins Light"/>
              </a:rPr>
              <a:t> </a:t>
            </a:r>
            <a:r>
              <a:rPr lang="en-US" dirty="0" err="1">
                <a:cs typeface="Poppins Light"/>
              </a:rPr>
              <a:t>profissionais</a:t>
            </a:r>
            <a:r>
              <a:rPr lang="en-US" dirty="0">
                <a:cs typeface="Poppins Light"/>
              </a:rPr>
              <a:t>.</a:t>
            </a:r>
          </a:p>
        </p:txBody>
      </p:sp>
      <p:pic>
        <p:nvPicPr>
          <p:cNvPr id="6" name="Espaço Reservado para Imagem 5" descr="Strava: corrida, pedal, trilha – Apps no Google Play">
            <a:extLst>
              <a:ext uri="{FF2B5EF4-FFF2-40B4-BE49-F238E27FC236}">
                <a16:creationId xmlns:a16="http://schemas.microsoft.com/office/drawing/2014/main" id="{B2450DDE-E942-2590-95DF-5A03C7253A1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46" r="846"/>
          <a:stretch/>
        </p:blipFill>
        <p:spPr>
          <a:xfrm>
            <a:off x="6755210" y="905832"/>
            <a:ext cx="4656695" cy="4842420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200202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C7084-C959-6935-0D99-455326A78F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109" y="750303"/>
            <a:ext cx="7587388" cy="2321990"/>
          </a:xfrm>
        </p:spPr>
        <p:txBody>
          <a:bodyPr anchor="b"/>
          <a:lstStyle/>
          <a:p>
            <a:r>
              <a:rPr lang="en-US" err="1"/>
              <a:t>TRês</a:t>
            </a:r>
            <a:r>
              <a:rPr lang="en-US"/>
              <a:t> </a:t>
            </a:r>
            <a:r>
              <a:rPr lang="en-US" err="1"/>
              <a:t>Objetos</a:t>
            </a:r>
            <a:r>
              <a:rPr lang="en-US"/>
              <a:t> Do SISTEMA:</a:t>
            </a:r>
          </a:p>
          <a:p>
            <a:endParaRPr lang="en-US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ED3DFEE-E89B-FBCD-6FDD-8BAAD45D0512}"/>
              </a:ext>
            </a:extLst>
          </p:cNvPr>
          <p:cNvSpPr txBox="1"/>
          <p:nvPr/>
        </p:nvSpPr>
        <p:spPr>
          <a:xfrm>
            <a:off x="311240" y="3429000"/>
            <a:ext cx="6117465" cy="24468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685800" indent="-685800">
              <a:buFont typeface="Arial"/>
              <a:buChar char="•"/>
            </a:pPr>
            <a:r>
              <a:rPr lang="en-US" sz="4500" cap="all" err="1">
                <a:solidFill>
                  <a:srgbClr val="000000"/>
                </a:solidFill>
                <a:latin typeface="Lora"/>
                <a:cs typeface="Segoe UI"/>
              </a:rPr>
              <a:t>Atleta</a:t>
            </a:r>
          </a:p>
          <a:p>
            <a:pPr marL="685800" indent="-685800">
              <a:buFont typeface="Arial"/>
              <a:buChar char="•"/>
            </a:pPr>
            <a:r>
              <a:rPr lang="en-US" sz="4500" cap="all" err="1">
                <a:solidFill>
                  <a:srgbClr val="000000"/>
                </a:solidFill>
                <a:latin typeface="Lora"/>
                <a:cs typeface="Segoe UI"/>
              </a:rPr>
              <a:t>Equipamento</a:t>
            </a:r>
            <a:r>
              <a:rPr lang="en-US" sz="4500" cap="all">
                <a:solidFill>
                  <a:srgbClr val="000000"/>
                </a:solidFill>
                <a:latin typeface="Lora"/>
                <a:cs typeface="Segoe UI"/>
              </a:rPr>
              <a:t> </a:t>
            </a:r>
          </a:p>
          <a:p>
            <a:pPr marL="685800" indent="-685800">
              <a:buFont typeface="Arial"/>
              <a:buChar char="•"/>
            </a:pPr>
            <a:r>
              <a:rPr lang="en-US" sz="4500" cap="all" err="1">
                <a:solidFill>
                  <a:srgbClr val="000000"/>
                </a:solidFill>
                <a:latin typeface="Lora"/>
                <a:cs typeface="Segoe UI"/>
              </a:rPr>
              <a:t>Atividade</a:t>
            </a:r>
            <a:r>
              <a:rPr lang="en-US" sz="4500" cap="all">
                <a:solidFill>
                  <a:srgbClr val="000000"/>
                </a:solidFill>
                <a:latin typeface="Lora"/>
                <a:cs typeface="Segoe UI"/>
              </a:rPr>
              <a:t> </a:t>
            </a:r>
          </a:p>
          <a:p>
            <a:pPr algn="ctr"/>
            <a:endParaRPr lang="pt-BR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75188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2CC9C-AE86-D77D-2F74-8B39860A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380" y="501603"/>
            <a:ext cx="7938644" cy="5853477"/>
          </a:xfrm>
        </p:spPr>
        <p:txBody>
          <a:bodyPr>
            <a:normAutofit/>
          </a:bodyPr>
          <a:lstStyle/>
          <a:p>
            <a:pPr algn="l"/>
            <a:r>
              <a:rPr lang="en-US" sz="4500">
                <a:latin typeface="Lora"/>
              </a:rPr>
              <a:t>ATIVIDADES DOS OBJETOS:</a:t>
            </a:r>
            <a:br>
              <a:rPr lang="en-US" sz="4500">
                <a:latin typeface="Lora"/>
              </a:rPr>
            </a:br>
            <a:endParaRPr lang="pt-BR" sz="4500">
              <a:latin typeface="Lora"/>
              <a:cs typeface="Poppins Light"/>
            </a:endParaRPr>
          </a:p>
          <a:p>
            <a:pPr marL="342900" indent="-342900" algn="l">
              <a:buFont typeface="Arial"/>
              <a:buChar char="•"/>
            </a:pPr>
            <a:r>
              <a:rPr lang="en-US" sz="2800" b="1">
                <a:latin typeface="Poppins Light"/>
                <a:ea typeface="+mn-lt"/>
                <a:cs typeface="+mn-lt"/>
              </a:rPr>
              <a:t>ATLETA</a:t>
            </a:r>
            <a:endParaRPr lang="en-US" sz="2800">
              <a:latin typeface="Poppins Light"/>
              <a:ea typeface="+mn-lt"/>
              <a:cs typeface="+mn-lt"/>
            </a:endParaRPr>
          </a:p>
          <a:p>
            <a:pPr algn="l"/>
            <a:r>
              <a:rPr lang="en-US" sz="2800">
                <a:latin typeface="Poppins Light"/>
                <a:ea typeface="+mn-lt"/>
                <a:cs typeface="+mn-lt"/>
              </a:rPr>
              <a:t>Registrar </a:t>
            </a:r>
            <a:r>
              <a:rPr lang="en-US" sz="2800" err="1">
                <a:latin typeface="Poppins Light"/>
                <a:ea typeface="+mn-lt"/>
                <a:cs typeface="+mn-lt"/>
              </a:rPr>
              <a:t>atividade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r>
              <a:rPr lang="en-US" sz="2800" err="1">
                <a:latin typeface="Poppins Light"/>
                <a:ea typeface="+mn-lt"/>
                <a:cs typeface="+mn-lt"/>
              </a:rPr>
              <a:t>física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endParaRPr lang="en-US" sz="2800">
              <a:latin typeface="Poppins Light"/>
              <a:cs typeface="Poppins Light"/>
            </a:endParaRPr>
          </a:p>
          <a:p>
            <a:pPr algn="l"/>
            <a:r>
              <a:rPr lang="en-US" sz="2800" err="1">
                <a:latin typeface="Poppins Light"/>
                <a:ea typeface="+mn-lt"/>
                <a:cs typeface="+mn-lt"/>
              </a:rPr>
              <a:t>Acompanhar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r>
              <a:rPr lang="en-US" sz="2800" err="1">
                <a:latin typeface="Poppins Light"/>
                <a:ea typeface="+mn-lt"/>
                <a:cs typeface="+mn-lt"/>
              </a:rPr>
              <a:t>desempenho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endParaRPr lang="en-US" sz="2800">
              <a:latin typeface="Poppins Light"/>
              <a:cs typeface="Poppins Light"/>
            </a:endParaRPr>
          </a:p>
          <a:p>
            <a:pPr marL="457200" indent="-457200" algn="l">
              <a:buFont typeface="Arial"/>
              <a:buChar char="•"/>
            </a:pPr>
            <a:r>
              <a:rPr lang="en-US" sz="2800" b="1">
                <a:latin typeface="Poppins Light"/>
                <a:ea typeface="+mn-lt"/>
                <a:cs typeface="+mn-lt"/>
              </a:rPr>
              <a:t>EQUIPAMENTO</a:t>
            </a:r>
            <a:endParaRPr lang="en-US" sz="2800">
              <a:latin typeface="Poppins Light"/>
              <a:cs typeface="Poppins Light"/>
            </a:endParaRPr>
          </a:p>
          <a:p>
            <a:pPr algn="l"/>
            <a:r>
              <a:rPr lang="en-US" sz="2800">
                <a:latin typeface="Poppins Light"/>
                <a:ea typeface="+mn-lt"/>
                <a:cs typeface="+mn-lt"/>
              </a:rPr>
              <a:t>Registrar </a:t>
            </a:r>
            <a:r>
              <a:rPr lang="en-US" sz="2800" err="1">
                <a:latin typeface="Poppins Light"/>
                <a:ea typeface="+mn-lt"/>
                <a:cs typeface="+mn-lt"/>
              </a:rPr>
              <a:t>equipamento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r>
              <a:rPr lang="en-US" sz="2800" err="1">
                <a:latin typeface="Poppins Light"/>
                <a:ea typeface="+mn-lt"/>
                <a:cs typeface="+mn-lt"/>
              </a:rPr>
              <a:t>utilizado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endParaRPr lang="en-US" sz="2800">
              <a:latin typeface="Poppins Light"/>
              <a:cs typeface="Poppins Light"/>
            </a:endParaRPr>
          </a:p>
          <a:p>
            <a:pPr algn="l"/>
            <a:r>
              <a:rPr lang="en-US" sz="2800" err="1">
                <a:latin typeface="Poppins Light"/>
                <a:ea typeface="+mn-lt"/>
                <a:cs typeface="+mn-lt"/>
              </a:rPr>
              <a:t>Associar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r>
              <a:rPr lang="en-US" sz="2800" err="1">
                <a:latin typeface="Poppins Light"/>
                <a:ea typeface="+mn-lt"/>
                <a:cs typeface="+mn-lt"/>
              </a:rPr>
              <a:t>equipamento</a:t>
            </a:r>
            <a:r>
              <a:rPr lang="en-US" sz="2800">
                <a:latin typeface="Poppins Light"/>
                <a:ea typeface="+mn-lt"/>
                <a:cs typeface="+mn-lt"/>
              </a:rPr>
              <a:t> à </a:t>
            </a:r>
            <a:r>
              <a:rPr lang="en-US" sz="2800" err="1">
                <a:latin typeface="Poppins Light"/>
                <a:ea typeface="+mn-lt"/>
                <a:cs typeface="+mn-lt"/>
              </a:rPr>
              <a:t>atividade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endParaRPr lang="en-US" sz="2800">
              <a:latin typeface="Poppins Light"/>
              <a:cs typeface="Poppins Light"/>
            </a:endParaRPr>
          </a:p>
          <a:p>
            <a:pPr marL="457200" indent="-457200" algn="l">
              <a:buFont typeface="Arial"/>
              <a:buChar char="•"/>
            </a:pPr>
            <a:r>
              <a:rPr lang="en-US" sz="2800" b="1">
                <a:latin typeface="Poppins Light"/>
                <a:ea typeface="+mn-lt"/>
                <a:cs typeface="+mn-lt"/>
              </a:rPr>
              <a:t>ATIVIDADE</a:t>
            </a:r>
            <a:endParaRPr lang="en-US" sz="2800">
              <a:latin typeface="Poppins Light"/>
              <a:cs typeface="Poppins Light"/>
            </a:endParaRPr>
          </a:p>
          <a:p>
            <a:pPr algn="l"/>
            <a:r>
              <a:rPr lang="en-US" sz="2800">
                <a:latin typeface="Poppins Light"/>
                <a:ea typeface="+mn-lt"/>
                <a:cs typeface="+mn-lt"/>
              </a:rPr>
              <a:t>Registrar </a:t>
            </a:r>
            <a:r>
              <a:rPr lang="en-US" sz="2800" err="1">
                <a:latin typeface="Poppins Light"/>
                <a:ea typeface="+mn-lt"/>
                <a:cs typeface="+mn-lt"/>
              </a:rPr>
              <a:t>percurso</a:t>
            </a:r>
            <a:r>
              <a:rPr lang="en-US" sz="2800">
                <a:latin typeface="Poppins Light"/>
                <a:ea typeface="+mn-lt"/>
                <a:cs typeface="+mn-lt"/>
              </a:rPr>
              <a:t> </a:t>
            </a:r>
            <a:endParaRPr lang="en-US" sz="2800">
              <a:latin typeface="Poppins Light"/>
              <a:cs typeface="Poppins Light"/>
            </a:endParaRPr>
          </a:p>
          <a:p>
            <a:pPr algn="l"/>
            <a:r>
              <a:rPr lang="en-US" sz="2800">
                <a:latin typeface="Poppins Light"/>
                <a:ea typeface="+mn-lt"/>
                <a:cs typeface="+mn-lt"/>
              </a:rPr>
              <a:t>Registrar </a:t>
            </a:r>
            <a:r>
              <a:rPr lang="en-US" sz="2800" err="1">
                <a:latin typeface="Poppins Light"/>
                <a:ea typeface="+mn-lt"/>
                <a:cs typeface="+mn-lt"/>
              </a:rPr>
              <a:t>desempenho</a:t>
            </a:r>
            <a:endParaRPr lang="en-US" sz="2800">
              <a:latin typeface="Poppins Light"/>
              <a:cs typeface="Poppins Light"/>
            </a:endParaRPr>
          </a:p>
          <a:p>
            <a:pPr algn="l"/>
            <a:endParaRPr lang="en-US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408536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51BC45-CAED-BB43-A297-009708D5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3540" y="564578"/>
            <a:ext cx="5392206" cy="5513060"/>
          </a:xfrm>
        </p:spPr>
        <p:txBody>
          <a:bodyPr/>
          <a:lstStyle/>
          <a:p>
            <a:r>
              <a:rPr lang="en-US" sz="2800">
                <a:ea typeface="+mj-lt"/>
                <a:cs typeface="+mj-lt"/>
              </a:rPr>
              <a:t>O </a:t>
            </a:r>
            <a:r>
              <a:rPr lang="en-US" sz="2800" b="1" err="1">
                <a:ea typeface="+mj-lt"/>
                <a:cs typeface="+mj-lt"/>
              </a:rPr>
              <a:t>atleta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realiza</a:t>
            </a:r>
            <a:r>
              <a:rPr lang="en-US" sz="280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uma</a:t>
            </a:r>
            <a:r>
              <a:rPr lang="en-US" sz="2800">
                <a:ea typeface="+mj-lt"/>
                <a:cs typeface="+mj-lt"/>
              </a:rPr>
              <a:t> </a:t>
            </a:r>
            <a:r>
              <a:rPr lang="en-US" sz="2800" err="1">
                <a:ea typeface="+mj-lt"/>
                <a:cs typeface="+mj-lt"/>
              </a:rPr>
              <a:t>atividade</a:t>
            </a:r>
            <a:r>
              <a:rPr lang="en-US" sz="2800">
                <a:ea typeface="+mj-lt"/>
                <a:cs typeface="+mj-lt"/>
              </a:rPr>
              <a:t>. </a:t>
            </a:r>
            <a:br>
              <a:rPr lang="en-US" sz="2800">
                <a:ea typeface="+mj-lt"/>
                <a:cs typeface="+mj-lt"/>
              </a:rPr>
            </a:br>
            <a:endParaRPr lang="pt-BR" sz="2800"/>
          </a:p>
          <a:p>
            <a:r>
              <a:rPr lang="en-US" sz="2800" err="1">
                <a:ea typeface="+mj-lt"/>
                <a:cs typeface="+mj-lt"/>
              </a:rPr>
              <a:t>A</a:t>
            </a:r>
            <a:r>
              <a:rPr lang="en-US" sz="2800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atividade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utiliza</a:t>
            </a:r>
            <a:r>
              <a:rPr lang="en-US" sz="2800">
                <a:ea typeface="+mj-lt"/>
                <a:cs typeface="+mj-lt"/>
              </a:rPr>
              <a:t> um </a:t>
            </a:r>
            <a:r>
              <a:rPr lang="en-US" sz="2800" err="1">
                <a:ea typeface="+mj-lt"/>
                <a:cs typeface="+mj-lt"/>
              </a:rPr>
              <a:t>equipamento</a:t>
            </a:r>
            <a:r>
              <a:rPr lang="en-US" sz="2800">
                <a:ea typeface="+mj-lt"/>
                <a:cs typeface="+mj-lt"/>
              </a:rPr>
              <a:t>.</a:t>
            </a:r>
            <a:br>
              <a:rPr lang="en-US" sz="2800">
                <a:ea typeface="+mj-lt"/>
                <a:cs typeface="+mj-lt"/>
              </a:rPr>
            </a:br>
            <a:r>
              <a:rPr lang="en-US" sz="2800">
                <a:ea typeface="+mj-lt"/>
                <a:cs typeface="+mj-lt"/>
              </a:rPr>
              <a:t> </a:t>
            </a:r>
            <a:endParaRPr lang="en-US" sz="2800"/>
          </a:p>
          <a:p>
            <a:r>
              <a:rPr lang="en-US" sz="2800">
                <a:ea typeface="+mj-lt"/>
                <a:cs typeface="+mj-lt"/>
              </a:rPr>
              <a:t>O </a:t>
            </a:r>
            <a:r>
              <a:rPr lang="en-US" sz="2800" b="1" err="1">
                <a:ea typeface="+mj-lt"/>
                <a:cs typeface="+mj-lt"/>
              </a:rPr>
              <a:t>atleta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acompanha</a:t>
            </a:r>
            <a:r>
              <a:rPr lang="en-US" sz="2800">
                <a:ea typeface="+mj-lt"/>
                <a:cs typeface="+mj-lt"/>
              </a:rPr>
              <a:t> o </a:t>
            </a:r>
            <a:r>
              <a:rPr lang="en-US" sz="2800" err="1">
                <a:ea typeface="+mj-lt"/>
                <a:cs typeface="+mj-lt"/>
              </a:rPr>
              <a:t>desempenho</a:t>
            </a:r>
            <a:r>
              <a:rPr lang="en-US" sz="2800">
                <a:ea typeface="+mj-lt"/>
                <a:cs typeface="+mj-lt"/>
              </a:rPr>
              <a:t> da </a:t>
            </a:r>
            <a:r>
              <a:rPr lang="en-US" sz="2800" err="1">
                <a:ea typeface="+mj-lt"/>
                <a:cs typeface="+mj-lt"/>
              </a:rPr>
              <a:t>atividade</a:t>
            </a:r>
            <a:r>
              <a:rPr lang="en-US" sz="2800">
                <a:ea typeface="+mj-lt"/>
                <a:cs typeface="+mj-lt"/>
              </a:rPr>
              <a:t>. </a:t>
            </a:r>
            <a:br>
              <a:rPr lang="en-US" sz="2800">
                <a:ea typeface="+mj-lt"/>
                <a:cs typeface="+mj-lt"/>
              </a:rPr>
            </a:br>
            <a:endParaRPr lang="en-US" sz="2800"/>
          </a:p>
          <a:p>
            <a:r>
              <a:rPr lang="en-US" sz="2800">
                <a:ea typeface="+mj-lt"/>
                <a:cs typeface="+mj-lt"/>
              </a:rPr>
              <a:t>O </a:t>
            </a:r>
            <a:r>
              <a:rPr lang="en-US" sz="2800" b="1" err="1">
                <a:ea typeface="+mj-lt"/>
                <a:cs typeface="+mj-lt"/>
              </a:rPr>
              <a:t>equipamento</a:t>
            </a:r>
            <a:r>
              <a:rPr lang="en-US" sz="2800" b="1">
                <a:ea typeface="+mj-lt"/>
                <a:cs typeface="+mj-lt"/>
              </a:rPr>
              <a:t> é </a:t>
            </a:r>
            <a:r>
              <a:rPr lang="en-US" sz="2800" b="1" err="1">
                <a:ea typeface="+mj-lt"/>
                <a:cs typeface="+mj-lt"/>
              </a:rPr>
              <a:t>associado</a:t>
            </a:r>
            <a:r>
              <a:rPr lang="en-US" sz="2800">
                <a:ea typeface="+mj-lt"/>
                <a:cs typeface="+mj-lt"/>
              </a:rPr>
              <a:t> à </a:t>
            </a:r>
            <a:r>
              <a:rPr lang="en-US" sz="2800" err="1">
                <a:ea typeface="+mj-lt"/>
                <a:cs typeface="+mj-lt"/>
              </a:rPr>
              <a:t>atividade</a:t>
            </a:r>
            <a:r>
              <a:rPr lang="en-US" sz="2800">
                <a:ea typeface="+mj-lt"/>
                <a:cs typeface="+mj-lt"/>
              </a:rPr>
              <a:t>.</a:t>
            </a:r>
            <a:endParaRPr lang="en-US" sz="2800"/>
          </a:p>
          <a:p>
            <a:endParaRPr lang="en-US"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B897C-9D62-36E3-5DC1-154478A93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10843" y="561268"/>
            <a:ext cx="5307785" cy="57354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en-US" sz="3600" b="1">
                <a:ea typeface="+mj-lt"/>
                <a:cs typeface="+mj-lt"/>
              </a:rPr>
              <a:t>RELAÇÕES:</a:t>
            </a:r>
            <a:endParaRPr lang="pt-BR" b="1"/>
          </a:p>
          <a:p>
            <a:pPr algn="l"/>
            <a:endParaRPr lang="en-US" sz="2800">
              <a:ea typeface="+mj-lt"/>
              <a:cs typeface="+mj-lt"/>
            </a:endParaRPr>
          </a:p>
          <a:p>
            <a:pPr algn="l"/>
            <a:r>
              <a:rPr lang="en-US" sz="2800">
                <a:ea typeface="+mj-lt"/>
                <a:cs typeface="+mj-lt"/>
              </a:rPr>
              <a:t>ATLETA</a:t>
            </a:r>
            <a:br>
              <a:rPr lang="en-US" sz="2800">
                <a:ea typeface="+mj-lt"/>
                <a:cs typeface="+mj-lt"/>
              </a:rPr>
            </a:br>
            <a:r>
              <a:rPr lang="en-US" sz="2800">
                <a:ea typeface="+mj-lt"/>
                <a:cs typeface="+mj-lt"/>
              </a:rPr>
              <a:t> </a:t>
            </a:r>
            <a:endParaRPr lang="en-US"/>
          </a:p>
          <a:p>
            <a:pPr algn="l"/>
            <a:r>
              <a:rPr lang="en-US" sz="2800">
                <a:ea typeface="+mj-lt"/>
                <a:cs typeface="+mj-lt"/>
              </a:rPr>
              <a:t>↓ </a:t>
            </a:r>
            <a:r>
              <a:rPr lang="en-US" sz="2800" err="1">
                <a:ea typeface="+mj-lt"/>
                <a:cs typeface="+mj-lt"/>
              </a:rPr>
              <a:t>realiza</a:t>
            </a:r>
            <a:br>
              <a:rPr lang="en-US" sz="2800">
                <a:ea typeface="+mj-lt"/>
                <a:cs typeface="+mj-lt"/>
              </a:rPr>
            </a:br>
            <a:r>
              <a:rPr lang="en-US" sz="2800">
                <a:ea typeface="+mj-lt"/>
                <a:cs typeface="+mj-lt"/>
              </a:rPr>
              <a:t> </a:t>
            </a:r>
            <a:endParaRPr lang="en-US" sz="2800"/>
          </a:p>
          <a:p>
            <a:pPr algn="l"/>
            <a:r>
              <a:rPr lang="en-US" sz="2800">
                <a:ea typeface="+mj-lt"/>
                <a:cs typeface="+mj-lt"/>
              </a:rPr>
              <a:t>ATIVIDADE</a:t>
            </a:r>
            <a:br>
              <a:rPr lang="en-US" sz="2800">
                <a:ea typeface="+mj-lt"/>
                <a:cs typeface="+mj-lt"/>
              </a:rPr>
            </a:br>
            <a:endParaRPr lang="en-US" sz="2800">
              <a:ea typeface="+mj-lt"/>
              <a:cs typeface="+mj-lt"/>
            </a:endParaRPr>
          </a:p>
          <a:p>
            <a:pPr algn="l"/>
            <a:r>
              <a:rPr lang="en-US" sz="2800">
                <a:ea typeface="+mj-lt"/>
                <a:cs typeface="+mj-lt"/>
              </a:rPr>
              <a:t> ↓ </a:t>
            </a:r>
            <a:r>
              <a:rPr lang="en-US" sz="2800" err="1">
                <a:ea typeface="+mj-lt"/>
                <a:cs typeface="+mj-lt"/>
              </a:rPr>
              <a:t>utiliza</a:t>
            </a:r>
            <a:br>
              <a:rPr lang="en-US" sz="2800">
                <a:ea typeface="+mj-lt"/>
                <a:cs typeface="+mj-lt"/>
              </a:rPr>
            </a:br>
            <a:r>
              <a:rPr lang="en-US" sz="2800">
                <a:ea typeface="+mj-lt"/>
                <a:cs typeface="+mj-lt"/>
              </a:rPr>
              <a:t> </a:t>
            </a:r>
          </a:p>
          <a:p>
            <a:pPr algn="l"/>
            <a:r>
              <a:rPr lang="en-US" sz="2800">
                <a:ea typeface="+mj-lt"/>
                <a:cs typeface="+mj-lt"/>
              </a:rPr>
              <a:t>EQUIPAMENTO</a:t>
            </a:r>
            <a:endParaRPr lang="en-US" sz="2800"/>
          </a:p>
          <a:p>
            <a:endParaRPr lang="en-US" sz="2800" b="1"/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2949280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A0267BC8-523E-223E-050C-C5C69CCAD2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1584" y="561268"/>
            <a:ext cx="5424596" cy="573546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l"/>
            <a:r>
              <a:rPr lang="pt-BR" sz="3200" b="1">
                <a:ea typeface="+mj-lt"/>
                <a:cs typeface="+mj-lt"/>
              </a:rPr>
              <a:t>EXEMPLO NO STRAVA:</a:t>
            </a:r>
          </a:p>
          <a:p>
            <a:pPr algn="l"/>
            <a:br>
              <a:rPr lang="pt-BR" sz="2000">
                <a:ea typeface="+mj-lt"/>
                <a:cs typeface="+mj-lt"/>
              </a:rPr>
            </a:br>
            <a:r>
              <a:rPr lang="pt-BR" sz="2000" b="1">
                <a:ea typeface="+mj-lt"/>
                <a:cs typeface="+mj-lt"/>
              </a:rPr>
              <a:t>Exemplo: uma corrida</a:t>
            </a:r>
            <a:endParaRPr lang="pt-BR"/>
          </a:p>
          <a:p>
            <a:pPr algn="l"/>
            <a:r>
              <a:rPr lang="pt-BR" sz="2000">
                <a:ea typeface="+mj-lt"/>
                <a:cs typeface="+mj-lt"/>
              </a:rPr>
              <a:t>👤 </a:t>
            </a:r>
            <a:r>
              <a:rPr lang="pt-BR" sz="2000" b="1">
                <a:ea typeface="+mj-lt"/>
                <a:cs typeface="+mj-lt"/>
              </a:rPr>
              <a:t>ATLETA</a:t>
            </a:r>
            <a:br>
              <a:rPr lang="pt-BR" sz="2000" b="1">
                <a:ea typeface="+mj-lt"/>
                <a:cs typeface="+mj-lt"/>
              </a:rPr>
            </a:br>
            <a:r>
              <a:rPr lang="pt-BR" sz="2000" b="1">
                <a:ea typeface="+mj-lt"/>
                <a:cs typeface="+mj-lt"/>
              </a:rPr>
              <a:t> ↓ realiza</a:t>
            </a:r>
            <a:br>
              <a:rPr lang="pt-BR" sz="2000" b="1">
                <a:ea typeface="+mj-lt"/>
                <a:cs typeface="+mj-lt"/>
              </a:rPr>
            </a:br>
            <a:r>
              <a:rPr lang="pt-BR" sz="2000" b="1">
                <a:ea typeface="+mj-lt"/>
                <a:cs typeface="+mj-lt"/>
              </a:rPr>
              <a:t> 🏃 ATIVIDADE: Corrida</a:t>
            </a:r>
            <a:br>
              <a:rPr lang="pt-BR" sz="2000" b="1">
                <a:ea typeface="+mj-lt"/>
                <a:cs typeface="+mj-lt"/>
              </a:rPr>
            </a:br>
            <a:r>
              <a:rPr lang="pt-BR" sz="2000" b="1">
                <a:ea typeface="+mj-lt"/>
                <a:cs typeface="+mj-lt"/>
              </a:rPr>
              <a:t> ↓ utiliza</a:t>
            </a:r>
            <a:br>
              <a:rPr lang="pt-BR" sz="2000" b="1">
                <a:ea typeface="+mj-lt"/>
                <a:cs typeface="+mj-lt"/>
              </a:rPr>
            </a:br>
            <a:r>
              <a:rPr lang="pt-BR" sz="2000" b="1">
                <a:ea typeface="+mj-lt"/>
                <a:cs typeface="+mj-lt"/>
              </a:rPr>
              <a:t> 👟 EQUIPAMENTO: Tênis</a:t>
            </a:r>
            <a:endParaRPr lang="pt-BR"/>
          </a:p>
          <a:p>
            <a:pPr algn="l"/>
            <a:endParaRPr lang="pt-BR" sz="2000" b="1">
              <a:ea typeface="+mj-lt"/>
              <a:cs typeface="+mj-lt"/>
            </a:endParaRPr>
          </a:p>
          <a:p>
            <a:pPr algn="l"/>
            <a:r>
              <a:rPr lang="pt-BR" sz="2000" b="1">
                <a:ea typeface="+mj-lt"/>
                <a:cs typeface="+mj-lt"/>
              </a:rPr>
              <a:t>O Strava registra:</a:t>
            </a:r>
            <a:endParaRPr lang="pt-BR"/>
          </a:p>
          <a:p>
            <a:pPr marL="285750" indent="-285750" algn="l">
              <a:buChar char="•"/>
            </a:pPr>
            <a:r>
              <a:rPr lang="pt-BR" sz="2000">
                <a:ea typeface="+mj-lt"/>
                <a:cs typeface="+mj-lt"/>
              </a:rPr>
              <a:t>Distância </a:t>
            </a:r>
            <a:endParaRPr lang="pt-BR"/>
          </a:p>
          <a:p>
            <a:pPr marL="285750" indent="-285750" algn="l">
              <a:buChar char="•"/>
            </a:pPr>
            <a:r>
              <a:rPr lang="pt-BR" sz="2000">
                <a:ea typeface="+mj-lt"/>
                <a:cs typeface="+mj-lt"/>
              </a:rPr>
              <a:t>Tempo </a:t>
            </a:r>
            <a:endParaRPr lang="pt-BR"/>
          </a:p>
          <a:p>
            <a:pPr marL="285750" indent="-285750" algn="l">
              <a:buChar char="•"/>
            </a:pPr>
            <a:r>
              <a:rPr lang="pt-BR" sz="2000">
                <a:ea typeface="+mj-lt"/>
                <a:cs typeface="+mj-lt"/>
              </a:rPr>
              <a:t>Percurso </a:t>
            </a:r>
            <a:endParaRPr lang="pt-BR"/>
          </a:p>
          <a:p>
            <a:pPr marL="285750" indent="-285750" algn="l">
              <a:buChar char="•"/>
            </a:pPr>
            <a:r>
              <a:rPr lang="pt-BR" sz="2000">
                <a:ea typeface="+mj-lt"/>
                <a:cs typeface="+mj-lt"/>
              </a:rPr>
              <a:t>Desempenho</a:t>
            </a:r>
            <a:endParaRPr lang="pt-BR"/>
          </a:p>
          <a:p>
            <a:pPr algn="l"/>
            <a:endParaRPr lang="pt-BR" sz="2000"/>
          </a:p>
        </p:txBody>
      </p:sp>
      <p:pic>
        <p:nvPicPr>
          <p:cNvPr id="10" name="Imagem 9" descr="Strava Route Map">
            <a:extLst>
              <a:ext uri="{FF2B5EF4-FFF2-40B4-BE49-F238E27FC236}">
                <a16:creationId xmlns:a16="http://schemas.microsoft.com/office/drawing/2014/main" id="{84DB04C7-504D-25AE-A007-BF75CD448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005" y="563480"/>
            <a:ext cx="5420226" cy="573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600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A87EA-8BB3-79C6-656A-1A8ABD65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7666" y="656644"/>
            <a:ext cx="10428406" cy="561251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/>
              <a:t>CONCLUSÃO:</a:t>
            </a:r>
            <a:br>
              <a:rPr lang="en-US" sz="3600"/>
            </a:br>
            <a:endParaRPr lang="pt-BR" sz="3600"/>
          </a:p>
          <a:p>
            <a:r>
              <a:rPr lang="en-US" sz="2800" b="1">
                <a:ea typeface="+mj-lt"/>
                <a:cs typeface="+mj-lt"/>
              </a:rPr>
              <a:t>O Strava </a:t>
            </a:r>
            <a:r>
              <a:rPr lang="en-US" sz="2800" b="1" err="1">
                <a:ea typeface="+mj-lt"/>
                <a:cs typeface="+mj-lt"/>
              </a:rPr>
              <a:t>como</a:t>
            </a:r>
            <a:r>
              <a:rPr lang="en-US" sz="2800" b="1">
                <a:ea typeface="+mj-lt"/>
                <a:cs typeface="+mj-lt"/>
              </a:rPr>
              <a:t> </a:t>
            </a:r>
            <a:r>
              <a:rPr lang="en-US" sz="2800" b="1" err="1">
                <a:ea typeface="+mj-lt"/>
                <a:cs typeface="+mj-lt"/>
              </a:rPr>
              <a:t>sistema</a:t>
            </a:r>
            <a:r>
              <a:rPr lang="en-US" sz="2800" b="1">
                <a:ea typeface="+mj-lt"/>
                <a:cs typeface="+mj-lt"/>
              </a:rPr>
              <a:t> de </a:t>
            </a:r>
            <a:r>
              <a:rPr lang="en-US" sz="2800" b="1" err="1">
                <a:ea typeface="+mj-lt"/>
                <a:cs typeface="+mj-lt"/>
              </a:rPr>
              <a:t>informação</a:t>
            </a:r>
            <a:br>
              <a:rPr lang="en-US"/>
            </a:br>
            <a:endParaRPr lang="en-US"/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en-US" sz="2400">
                <a:ea typeface="+mj-lt"/>
                <a:cs typeface="+mj-lt"/>
              </a:rPr>
              <a:t>O </a:t>
            </a:r>
            <a:r>
              <a:rPr lang="en-US" sz="2400" err="1">
                <a:ea typeface="+mj-lt"/>
                <a:cs typeface="+mj-lt"/>
              </a:rPr>
              <a:t>sistema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reúne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b="1" err="1">
                <a:ea typeface="+mj-lt"/>
                <a:cs typeface="+mj-lt"/>
              </a:rPr>
              <a:t>usuários</a:t>
            </a:r>
            <a:r>
              <a:rPr lang="en-US" sz="2400" b="1">
                <a:ea typeface="+mj-lt"/>
                <a:cs typeface="+mj-lt"/>
              </a:rPr>
              <a:t>, </a:t>
            </a:r>
            <a:r>
              <a:rPr lang="en-US" sz="2400" b="1" err="1">
                <a:ea typeface="+mj-lt"/>
                <a:cs typeface="+mj-lt"/>
              </a:rPr>
              <a:t>atividades</a:t>
            </a:r>
            <a:r>
              <a:rPr lang="en-US" sz="2400" b="1">
                <a:ea typeface="+mj-lt"/>
                <a:cs typeface="+mj-lt"/>
              </a:rPr>
              <a:t> e </a:t>
            </a:r>
            <a:r>
              <a:rPr lang="en-US" sz="2400" b="1" err="1">
                <a:ea typeface="+mj-lt"/>
                <a:cs typeface="+mj-lt"/>
              </a:rPr>
              <a:t>equipamentos</a:t>
            </a:r>
            <a:r>
              <a:rPr lang="en-US" sz="2400">
                <a:ea typeface="+mj-lt"/>
                <a:cs typeface="+mj-lt"/>
              </a:rPr>
              <a:t>. </a:t>
            </a:r>
            <a:br>
              <a:rPr lang="en-US" sz="2400">
                <a:ea typeface="+mj-lt"/>
                <a:cs typeface="+mj-lt"/>
              </a:rPr>
            </a:br>
            <a:endParaRPr lang="en-US" sz="2400"/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en-US" sz="2400">
                <a:ea typeface="+mj-lt"/>
                <a:cs typeface="+mj-lt"/>
              </a:rPr>
              <a:t>As </a:t>
            </a:r>
            <a:r>
              <a:rPr lang="en-US" sz="2400" err="1">
                <a:ea typeface="+mj-lt"/>
                <a:cs typeface="+mj-lt"/>
              </a:rPr>
              <a:t>atividades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permitem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b="1">
                <a:ea typeface="+mj-lt"/>
                <a:cs typeface="+mj-lt"/>
              </a:rPr>
              <a:t>registrar e </a:t>
            </a:r>
            <a:r>
              <a:rPr lang="en-US" sz="2400" b="1" err="1">
                <a:ea typeface="+mj-lt"/>
                <a:cs typeface="+mj-lt"/>
              </a:rPr>
              <a:t>acompanhar</a:t>
            </a:r>
            <a:r>
              <a:rPr lang="en-US" sz="2400" b="1">
                <a:ea typeface="+mj-lt"/>
                <a:cs typeface="+mj-lt"/>
              </a:rPr>
              <a:t> </a:t>
            </a:r>
            <a:r>
              <a:rPr lang="en-US" sz="2400" b="1" err="1">
                <a:ea typeface="+mj-lt"/>
                <a:cs typeface="+mj-lt"/>
              </a:rPr>
              <a:t>informações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sobre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exercícios</a:t>
            </a:r>
            <a:r>
              <a:rPr lang="en-US" sz="2400">
                <a:ea typeface="+mj-lt"/>
                <a:cs typeface="+mj-lt"/>
              </a:rPr>
              <a:t>. </a:t>
            </a:r>
            <a:br>
              <a:rPr lang="en-US" sz="2400">
                <a:ea typeface="+mj-lt"/>
                <a:cs typeface="+mj-lt"/>
              </a:rPr>
            </a:br>
            <a:endParaRPr lang="en-US" sz="2400">
              <a:ea typeface="+mj-lt"/>
              <a:cs typeface="+mj-lt"/>
            </a:endParaRP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en-US" sz="2400" err="1">
                <a:ea typeface="+mj-lt"/>
                <a:cs typeface="+mj-lt"/>
              </a:rPr>
              <a:t>Os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objetos</a:t>
            </a:r>
            <a:r>
              <a:rPr lang="en-US" sz="2400">
                <a:ea typeface="+mj-lt"/>
                <a:cs typeface="+mj-lt"/>
              </a:rPr>
              <a:t> se </a:t>
            </a:r>
            <a:r>
              <a:rPr lang="en-US" sz="2400" err="1">
                <a:ea typeface="+mj-lt"/>
                <a:cs typeface="+mj-lt"/>
              </a:rPr>
              <a:t>relacionam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durante</a:t>
            </a:r>
            <a:r>
              <a:rPr lang="en-US" sz="2400">
                <a:ea typeface="+mj-lt"/>
                <a:cs typeface="+mj-lt"/>
              </a:rPr>
              <a:t> o </a:t>
            </a:r>
            <a:r>
              <a:rPr lang="en-US" sz="2400" err="1">
                <a:ea typeface="+mj-lt"/>
                <a:cs typeface="+mj-lt"/>
              </a:rPr>
              <a:t>uso</a:t>
            </a:r>
            <a:r>
              <a:rPr lang="en-US" sz="2400">
                <a:ea typeface="+mj-lt"/>
                <a:cs typeface="+mj-lt"/>
              </a:rPr>
              <a:t> do </a:t>
            </a:r>
            <a:r>
              <a:rPr lang="en-US" sz="2400" err="1">
                <a:ea typeface="+mj-lt"/>
                <a:cs typeface="+mj-lt"/>
              </a:rPr>
              <a:t>aplicativo</a:t>
            </a:r>
            <a:r>
              <a:rPr lang="en-US" sz="2400">
                <a:ea typeface="+mj-lt"/>
                <a:cs typeface="+mj-lt"/>
              </a:rPr>
              <a:t>.</a:t>
            </a:r>
            <a:br>
              <a:rPr lang="en-US" sz="2400">
                <a:ea typeface="+mj-lt"/>
                <a:cs typeface="+mj-lt"/>
              </a:rPr>
            </a:br>
            <a:endParaRPr lang="en-US" sz="2400">
              <a:ea typeface="+mj-lt"/>
              <a:cs typeface="+mj-lt"/>
            </a:endParaRPr>
          </a:p>
          <a:p>
            <a:pPr marL="457200" indent="-457200">
              <a:lnSpc>
                <a:spcPct val="100000"/>
              </a:lnSpc>
              <a:buFont typeface="Arial"/>
              <a:buChar char="•"/>
            </a:pPr>
            <a:r>
              <a:rPr lang="en-US" sz="2400">
                <a:ea typeface="+mj-lt"/>
                <a:cs typeface="+mj-lt"/>
              </a:rPr>
              <a:t>As </a:t>
            </a:r>
            <a:r>
              <a:rPr lang="en-US" sz="2400" err="1">
                <a:ea typeface="+mj-lt"/>
                <a:cs typeface="+mj-lt"/>
              </a:rPr>
              <a:t>informações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registradas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ajudam</a:t>
            </a:r>
            <a:r>
              <a:rPr lang="en-US" sz="2400">
                <a:ea typeface="+mj-lt"/>
                <a:cs typeface="+mj-lt"/>
              </a:rPr>
              <a:t> o </a:t>
            </a:r>
            <a:r>
              <a:rPr lang="en-US" sz="2400" err="1">
                <a:ea typeface="+mj-lt"/>
                <a:cs typeface="+mj-lt"/>
              </a:rPr>
              <a:t>atleta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err="1">
                <a:ea typeface="+mj-lt"/>
                <a:cs typeface="+mj-lt"/>
              </a:rPr>
              <a:t>a</a:t>
            </a:r>
            <a:r>
              <a:rPr lang="en-US" sz="2400">
                <a:ea typeface="+mj-lt"/>
                <a:cs typeface="+mj-lt"/>
              </a:rPr>
              <a:t> </a:t>
            </a:r>
            <a:r>
              <a:rPr lang="en-US" sz="2400" b="1" err="1">
                <a:ea typeface="+mj-lt"/>
                <a:cs typeface="+mj-lt"/>
              </a:rPr>
              <a:t>acompanhar</a:t>
            </a:r>
            <a:r>
              <a:rPr lang="en-US" sz="2400" b="1">
                <a:ea typeface="+mj-lt"/>
                <a:cs typeface="+mj-lt"/>
              </a:rPr>
              <a:t> </a:t>
            </a:r>
            <a:r>
              <a:rPr lang="en-US" sz="2400" b="1" err="1">
                <a:ea typeface="+mj-lt"/>
                <a:cs typeface="+mj-lt"/>
              </a:rPr>
              <a:t>seu</a:t>
            </a:r>
            <a:r>
              <a:rPr lang="en-US" sz="2400" b="1">
                <a:ea typeface="+mj-lt"/>
                <a:cs typeface="+mj-lt"/>
              </a:rPr>
              <a:t> </a:t>
            </a:r>
            <a:r>
              <a:rPr lang="en-US" sz="2400" b="1" err="1">
                <a:ea typeface="+mj-lt"/>
                <a:cs typeface="+mj-lt"/>
              </a:rPr>
              <a:t>desempenho</a:t>
            </a:r>
            <a:r>
              <a:rPr lang="en-US" sz="2400">
                <a:ea typeface="+mj-lt"/>
                <a:cs typeface="+mj-lt"/>
              </a:rPr>
              <a:t>.</a:t>
            </a:r>
            <a:endParaRPr lang="en-US" sz="2400"/>
          </a:p>
          <a:p>
            <a:br>
              <a:rPr lang="en-US" sz="2800"/>
            </a:br>
            <a:br>
              <a:rPr lang="en-US" sz="2800"/>
            </a:br>
            <a:br>
              <a:rPr lang="en-US" sz="2800"/>
            </a:b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27273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C6E8A-9B54-8597-8F2A-C5833EA90D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9290" y="704102"/>
            <a:ext cx="3053717" cy="812048"/>
          </a:xfrm>
        </p:spPr>
        <p:txBody>
          <a:bodyPr>
            <a:normAutofit/>
          </a:bodyPr>
          <a:lstStyle/>
          <a:p>
            <a:r>
              <a:rPr lang="pt-BR"/>
              <a:t>Fontes: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A6C58B-489A-AFC8-FAA3-D4136AE207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2010" y="1520775"/>
            <a:ext cx="6762117" cy="4429922"/>
          </a:xfrm>
        </p:spPr>
        <p:txBody>
          <a:bodyPr>
            <a:normAutofit/>
          </a:bodyPr>
          <a:lstStyle/>
          <a:p>
            <a:pPr marL="342900" indent="-342900">
              <a:buChar char="•"/>
            </a:pPr>
            <a:r>
              <a:rPr lang="pt-BR">
                <a:ea typeface="+mn-lt"/>
                <a:cs typeface="+mn-lt"/>
                <a:hlinkClick r:id="rId2"/>
              </a:rPr>
              <a:t>Strava | Aplicativo de corrida, ciclismo e trilha - Treine, monitore e compartilhe</a:t>
            </a:r>
          </a:p>
          <a:p>
            <a:pPr marL="342900" indent="-342900">
              <a:buChar char="•"/>
            </a:pPr>
            <a:r>
              <a:rPr lang="pt-BR">
                <a:ea typeface="+mn-lt"/>
                <a:cs typeface="+mn-lt"/>
                <a:hlinkClick r:id="rId3"/>
              </a:rPr>
              <a:t>O que são objetos na Orientação a Objetos?</a:t>
            </a:r>
            <a:endParaRPr lang="pt-BR">
              <a:cs typeface="Poppins Light"/>
            </a:endParaRPr>
          </a:p>
          <a:p>
            <a:pPr marL="342900" indent="-342900">
              <a:buChar char="•"/>
            </a:pPr>
            <a:r>
              <a:rPr lang="pt-BR">
                <a:ea typeface="+mn-lt"/>
                <a:cs typeface="+mn-lt"/>
              </a:rPr>
              <a:t>Strava: como funciona o app de treinos? https://share.google/QSeipjfTRPQzuaXrO</a:t>
            </a:r>
            <a:endParaRPr lang="pt-BR">
              <a:cs typeface="Poppins Light"/>
            </a:endParaRPr>
          </a:p>
          <a:p>
            <a:pPr marL="342900" indent="-342900">
              <a:buChar char="•"/>
            </a:pPr>
            <a:endParaRPr lang="pt-BR">
              <a:cs typeface="Poppins Light"/>
            </a:endParaRPr>
          </a:p>
          <a:p>
            <a:pPr marL="342900" indent="-342900">
              <a:buChar char="•"/>
            </a:pPr>
            <a:endParaRPr lang="pt-BR">
              <a:cs typeface="Poppi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98928622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A9C388-2C06-4AF2-857C-74055069A297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F782DA7-86C0-4A84-A860-11A1E6E3FB6B}">
  <ds:schemaRefs>
    <ds:schemaRef ds:uri="16c05727-aa75-4e4a-9b5f-8a80a1165891"/>
    <ds:schemaRef ds:uri="230e9df3-be65-4c73-a93b-d1236ebd677e"/>
    <ds:schemaRef ds:uri="71af3243-3dd4-4a8d-8c0d-dd76da1f02a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Gradient Circle</vt:lpstr>
      <vt:lpstr>Sistema de informação: STRAVA</vt:lpstr>
      <vt:lpstr>.</vt:lpstr>
      <vt:lpstr>Introdução:Sobre o sistema</vt:lpstr>
      <vt:lpstr>TRês Objetos Do SISTEMA: </vt:lpstr>
      <vt:lpstr>ATIVIDADES DOS OBJETOS:  ATLETA Registrar atividade física  Acompanhar desempenho  EQUIPAMENTO Registrar equipamento utilizado  Associar equipamento à atividade  ATIVIDADE Registrar percurso  Registrar desempenho </vt:lpstr>
      <vt:lpstr>O atleta realiza uma atividade.   A atividade utiliza um equipamento.   O atleta acompanha o desempenho da atividade.   O equipamento é associado à atividade. </vt:lpstr>
      <vt:lpstr>Apresentação do PowerPoint</vt:lpstr>
      <vt:lpstr>CONCLUSÃO:  O Strava como sistema de informação  O sistema reúne usuários, atividades e equipamentos.   As atividades permitem registrar e acompanhar informações sobre exercícios.   Os objetos se relacionam durante o uso do aplicativo.  As informações registradas ajudam o atleta a acompanhar seu desempenho.    </vt:lpstr>
      <vt:lpstr>Fontes: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21</cp:revision>
  <dcterms:created xsi:type="dcterms:W3CDTF">2026-08-24T15:46:23Z</dcterms:created>
  <dcterms:modified xsi:type="dcterms:W3CDTF">2026-08-25T19:01:58Z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