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6"/>
  </p:notesMasterIdLst>
  <p:sldIdLst>
    <p:sldId id="256" r:id="rId2"/>
    <p:sldId id="257" r:id="rId3"/>
    <p:sldId id="260" r:id="rId4"/>
    <p:sldId id="1680" r:id="rId5"/>
    <p:sldId id="1597" r:id="rId6"/>
    <p:sldId id="1704" r:id="rId7"/>
    <p:sldId id="1599" r:id="rId8"/>
    <p:sldId id="1601" r:id="rId9"/>
    <p:sldId id="1681" r:id="rId10"/>
    <p:sldId id="1712" r:id="rId11"/>
    <p:sldId id="1682" r:id="rId12"/>
    <p:sldId id="1696" r:id="rId13"/>
    <p:sldId id="1697" r:id="rId14"/>
    <p:sldId id="1718" r:id="rId15"/>
    <p:sldId id="262" r:id="rId16"/>
    <p:sldId id="263" r:id="rId17"/>
    <p:sldId id="264" r:id="rId18"/>
    <p:sldId id="265" r:id="rId19"/>
    <p:sldId id="1717" r:id="rId20"/>
    <p:sldId id="1716" r:id="rId21"/>
    <p:sldId id="266" r:id="rId22"/>
    <p:sldId id="269" r:id="rId23"/>
    <p:sldId id="1669" r:id="rId24"/>
    <p:sldId id="1670" r:id="rId25"/>
    <p:sldId id="1675" r:id="rId26"/>
    <p:sldId id="1693" r:id="rId27"/>
    <p:sldId id="1683" r:id="rId28"/>
    <p:sldId id="1699" r:id="rId29"/>
    <p:sldId id="1692" r:id="rId30"/>
    <p:sldId id="1700" r:id="rId31"/>
    <p:sldId id="1684" r:id="rId32"/>
    <p:sldId id="1701" r:id="rId33"/>
    <p:sldId id="280" r:id="rId34"/>
    <p:sldId id="1715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796" autoAdjust="0"/>
  </p:normalViewPr>
  <p:slideViewPr>
    <p:cSldViewPr>
      <p:cViewPr varScale="1">
        <p:scale>
          <a:sx n="68" d="100"/>
          <a:sy n="68" d="100"/>
        </p:scale>
        <p:origin x="14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1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14455-3905-4CBE-8E43-3B0868CA5C44}" type="doc">
      <dgm:prSet loTypeId="urn:microsoft.com/office/officeart/2005/8/layout/hierarchy1" loCatId="hierarchy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5754B1F-9A31-4917-83F6-E80F6A7B599A}">
      <dgm:prSet/>
      <dgm:spPr/>
      <dgm:t>
        <a:bodyPr/>
        <a:lstStyle/>
        <a:p>
          <a:r>
            <a:rPr lang="pt-BR"/>
            <a:t>Linguagem de máquina</a:t>
          </a:r>
          <a:endParaRPr lang="en-US"/>
        </a:p>
      </dgm:t>
    </dgm:pt>
    <dgm:pt modelId="{6C1A0AA2-8243-45B3-9370-9EA3C11CDA0F}" type="parTrans" cxnId="{1A3F4E4D-F2EF-44EA-ABF8-97327CB06453}">
      <dgm:prSet/>
      <dgm:spPr/>
      <dgm:t>
        <a:bodyPr/>
        <a:lstStyle/>
        <a:p>
          <a:endParaRPr lang="en-US"/>
        </a:p>
      </dgm:t>
    </dgm:pt>
    <dgm:pt modelId="{EEF5148D-F3CC-46C0-A2D9-60019E1377CF}" type="sibTrans" cxnId="{1A3F4E4D-F2EF-44EA-ABF8-97327CB06453}">
      <dgm:prSet/>
      <dgm:spPr/>
      <dgm:t>
        <a:bodyPr/>
        <a:lstStyle/>
        <a:p>
          <a:endParaRPr lang="en-US"/>
        </a:p>
      </dgm:t>
    </dgm:pt>
    <dgm:pt modelId="{B5B41F50-154E-4287-8E13-A0CCC994A2ED}">
      <dgm:prSet/>
      <dgm:spPr/>
      <dgm:t>
        <a:bodyPr/>
        <a:lstStyle/>
        <a:p>
          <a:r>
            <a:rPr lang="pt-BR"/>
            <a:t>Linguagem de alto nível</a:t>
          </a:r>
          <a:endParaRPr lang="en-US"/>
        </a:p>
      </dgm:t>
    </dgm:pt>
    <dgm:pt modelId="{25A6B7EE-6A1A-4D1E-BC60-0AA8D6CF311D}" type="parTrans" cxnId="{F693A9E3-C041-443E-B07A-77AE69C3E365}">
      <dgm:prSet/>
      <dgm:spPr/>
      <dgm:t>
        <a:bodyPr/>
        <a:lstStyle/>
        <a:p>
          <a:endParaRPr lang="en-US"/>
        </a:p>
      </dgm:t>
    </dgm:pt>
    <dgm:pt modelId="{11880E91-3E28-4234-B9ED-98EDCCDC3F38}" type="sibTrans" cxnId="{F693A9E3-C041-443E-B07A-77AE69C3E365}">
      <dgm:prSet/>
      <dgm:spPr/>
      <dgm:t>
        <a:bodyPr/>
        <a:lstStyle/>
        <a:p>
          <a:endParaRPr lang="en-US"/>
        </a:p>
      </dgm:t>
    </dgm:pt>
    <dgm:pt modelId="{CBE88608-C083-4EDF-9AF2-E74D4C886F4F}" type="pres">
      <dgm:prSet presAssocID="{17C14455-3905-4CBE-8E43-3B0868CA5C4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A820055-2DC1-4B59-AF70-407574FD3ED5}" type="pres">
      <dgm:prSet presAssocID="{A5754B1F-9A31-4917-83F6-E80F6A7B599A}" presName="hierRoot1" presStyleCnt="0"/>
      <dgm:spPr/>
    </dgm:pt>
    <dgm:pt modelId="{B88C59F7-4031-4F91-AFA3-839030BBA466}" type="pres">
      <dgm:prSet presAssocID="{A5754B1F-9A31-4917-83F6-E80F6A7B599A}" presName="composite" presStyleCnt="0"/>
      <dgm:spPr/>
    </dgm:pt>
    <dgm:pt modelId="{30B6B316-F687-42B8-98C6-D0152D574ED7}" type="pres">
      <dgm:prSet presAssocID="{A5754B1F-9A31-4917-83F6-E80F6A7B599A}" presName="background" presStyleLbl="node0" presStyleIdx="0" presStyleCnt="2"/>
      <dgm:spPr/>
    </dgm:pt>
    <dgm:pt modelId="{515E3AFE-3389-46F1-97D6-81C4697A9CB8}" type="pres">
      <dgm:prSet presAssocID="{A5754B1F-9A31-4917-83F6-E80F6A7B599A}" presName="text" presStyleLbl="fgAcc0" presStyleIdx="0" presStyleCnt="2">
        <dgm:presLayoutVars>
          <dgm:chPref val="3"/>
        </dgm:presLayoutVars>
      </dgm:prSet>
      <dgm:spPr/>
    </dgm:pt>
    <dgm:pt modelId="{5B636226-7728-46FD-A2F6-7976260CEE1B}" type="pres">
      <dgm:prSet presAssocID="{A5754B1F-9A31-4917-83F6-E80F6A7B599A}" presName="hierChild2" presStyleCnt="0"/>
      <dgm:spPr/>
    </dgm:pt>
    <dgm:pt modelId="{091A526D-1020-4C9F-8D8F-C60EA3CFDE8B}" type="pres">
      <dgm:prSet presAssocID="{B5B41F50-154E-4287-8E13-A0CCC994A2ED}" presName="hierRoot1" presStyleCnt="0"/>
      <dgm:spPr/>
    </dgm:pt>
    <dgm:pt modelId="{4B72B4D5-C1F5-490C-B2D1-4763E605AD83}" type="pres">
      <dgm:prSet presAssocID="{B5B41F50-154E-4287-8E13-A0CCC994A2ED}" presName="composite" presStyleCnt="0"/>
      <dgm:spPr/>
    </dgm:pt>
    <dgm:pt modelId="{145C3F06-C0C6-455D-A74B-CD3425340FA6}" type="pres">
      <dgm:prSet presAssocID="{B5B41F50-154E-4287-8E13-A0CCC994A2ED}" presName="background" presStyleLbl="node0" presStyleIdx="1" presStyleCnt="2"/>
      <dgm:spPr/>
    </dgm:pt>
    <dgm:pt modelId="{8109313F-4A3F-4239-A636-37D193163C97}" type="pres">
      <dgm:prSet presAssocID="{B5B41F50-154E-4287-8E13-A0CCC994A2ED}" presName="text" presStyleLbl="fgAcc0" presStyleIdx="1" presStyleCnt="2">
        <dgm:presLayoutVars>
          <dgm:chPref val="3"/>
        </dgm:presLayoutVars>
      </dgm:prSet>
      <dgm:spPr/>
    </dgm:pt>
    <dgm:pt modelId="{038681C1-A05C-4A63-A630-15C7786A437C}" type="pres">
      <dgm:prSet presAssocID="{B5B41F50-154E-4287-8E13-A0CCC994A2ED}" presName="hierChild2" presStyleCnt="0"/>
      <dgm:spPr/>
    </dgm:pt>
  </dgm:ptLst>
  <dgm:cxnLst>
    <dgm:cxn modelId="{C1DDFF64-D7D4-4F04-A12E-581E948747A5}" type="presOf" srcId="{B5B41F50-154E-4287-8E13-A0CCC994A2ED}" destId="{8109313F-4A3F-4239-A636-37D193163C97}" srcOrd="0" destOrd="0" presId="urn:microsoft.com/office/officeart/2005/8/layout/hierarchy1"/>
    <dgm:cxn modelId="{1A3F4E4D-F2EF-44EA-ABF8-97327CB06453}" srcId="{17C14455-3905-4CBE-8E43-3B0868CA5C44}" destId="{A5754B1F-9A31-4917-83F6-E80F6A7B599A}" srcOrd="0" destOrd="0" parTransId="{6C1A0AA2-8243-45B3-9370-9EA3C11CDA0F}" sibTransId="{EEF5148D-F3CC-46C0-A2D9-60019E1377CF}"/>
    <dgm:cxn modelId="{1E293578-2969-4048-A61E-6B66DCE6304B}" type="presOf" srcId="{A5754B1F-9A31-4917-83F6-E80F6A7B599A}" destId="{515E3AFE-3389-46F1-97D6-81C4697A9CB8}" srcOrd="0" destOrd="0" presId="urn:microsoft.com/office/officeart/2005/8/layout/hierarchy1"/>
    <dgm:cxn modelId="{BB5D1EB3-D99E-4EF8-86D8-405C001B475A}" type="presOf" srcId="{17C14455-3905-4CBE-8E43-3B0868CA5C44}" destId="{CBE88608-C083-4EDF-9AF2-E74D4C886F4F}" srcOrd="0" destOrd="0" presId="urn:microsoft.com/office/officeart/2005/8/layout/hierarchy1"/>
    <dgm:cxn modelId="{F693A9E3-C041-443E-B07A-77AE69C3E365}" srcId="{17C14455-3905-4CBE-8E43-3B0868CA5C44}" destId="{B5B41F50-154E-4287-8E13-A0CCC994A2ED}" srcOrd="1" destOrd="0" parTransId="{25A6B7EE-6A1A-4D1E-BC60-0AA8D6CF311D}" sibTransId="{11880E91-3E28-4234-B9ED-98EDCCDC3F38}"/>
    <dgm:cxn modelId="{392DEA14-29D5-42AE-8A3D-3DF5A4151FF1}" type="presParOf" srcId="{CBE88608-C083-4EDF-9AF2-E74D4C886F4F}" destId="{6A820055-2DC1-4B59-AF70-407574FD3ED5}" srcOrd="0" destOrd="0" presId="urn:microsoft.com/office/officeart/2005/8/layout/hierarchy1"/>
    <dgm:cxn modelId="{61E2C0DE-491F-48B4-A080-229696827336}" type="presParOf" srcId="{6A820055-2DC1-4B59-AF70-407574FD3ED5}" destId="{B88C59F7-4031-4F91-AFA3-839030BBA466}" srcOrd="0" destOrd="0" presId="urn:microsoft.com/office/officeart/2005/8/layout/hierarchy1"/>
    <dgm:cxn modelId="{028A2111-D81D-496A-910E-33DA45F874FE}" type="presParOf" srcId="{B88C59F7-4031-4F91-AFA3-839030BBA466}" destId="{30B6B316-F687-42B8-98C6-D0152D574ED7}" srcOrd="0" destOrd="0" presId="urn:microsoft.com/office/officeart/2005/8/layout/hierarchy1"/>
    <dgm:cxn modelId="{B37F3EFF-72E5-4A02-BF86-ACB93F8319BF}" type="presParOf" srcId="{B88C59F7-4031-4F91-AFA3-839030BBA466}" destId="{515E3AFE-3389-46F1-97D6-81C4697A9CB8}" srcOrd="1" destOrd="0" presId="urn:microsoft.com/office/officeart/2005/8/layout/hierarchy1"/>
    <dgm:cxn modelId="{9407E338-BB3D-49EE-9FE7-84B74FBC0AA5}" type="presParOf" srcId="{6A820055-2DC1-4B59-AF70-407574FD3ED5}" destId="{5B636226-7728-46FD-A2F6-7976260CEE1B}" srcOrd="1" destOrd="0" presId="urn:microsoft.com/office/officeart/2005/8/layout/hierarchy1"/>
    <dgm:cxn modelId="{B0145A67-21A3-4BDE-8524-DFD2B492F3E5}" type="presParOf" srcId="{CBE88608-C083-4EDF-9AF2-E74D4C886F4F}" destId="{091A526D-1020-4C9F-8D8F-C60EA3CFDE8B}" srcOrd="1" destOrd="0" presId="urn:microsoft.com/office/officeart/2005/8/layout/hierarchy1"/>
    <dgm:cxn modelId="{670472E3-4E9F-4FF7-A4A7-227257DA057E}" type="presParOf" srcId="{091A526D-1020-4C9F-8D8F-C60EA3CFDE8B}" destId="{4B72B4D5-C1F5-490C-B2D1-4763E605AD83}" srcOrd="0" destOrd="0" presId="urn:microsoft.com/office/officeart/2005/8/layout/hierarchy1"/>
    <dgm:cxn modelId="{1409C376-D0D7-46E7-B0CD-17D3253794E7}" type="presParOf" srcId="{4B72B4D5-C1F5-490C-B2D1-4763E605AD83}" destId="{145C3F06-C0C6-455D-A74B-CD3425340FA6}" srcOrd="0" destOrd="0" presId="urn:microsoft.com/office/officeart/2005/8/layout/hierarchy1"/>
    <dgm:cxn modelId="{B9FCDB78-C164-4E7D-9BAB-1CEE4F5110A1}" type="presParOf" srcId="{4B72B4D5-C1F5-490C-B2D1-4763E605AD83}" destId="{8109313F-4A3F-4239-A636-37D193163C97}" srcOrd="1" destOrd="0" presId="urn:microsoft.com/office/officeart/2005/8/layout/hierarchy1"/>
    <dgm:cxn modelId="{EB9835EA-E9DB-490C-B020-63D939C06819}" type="presParOf" srcId="{091A526D-1020-4C9F-8D8F-C60EA3CFDE8B}" destId="{038681C1-A05C-4A63-A630-15C7786A437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3C25D4-3228-43CD-81E7-AB52156EF1CB}" type="doc">
      <dgm:prSet loTypeId="urn:microsoft.com/office/officeart/2005/8/layout/default" loCatId="list" qsTypeId="urn:microsoft.com/office/officeart/2005/8/quickstyle/simple3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DE7C5178-51AE-4BD4-825A-11636B3F986A}">
      <dgm:prSet/>
      <dgm:spPr/>
      <dgm:t>
        <a:bodyPr/>
        <a:lstStyle/>
        <a:p>
          <a:r>
            <a:rPr lang="pt-BR"/>
            <a:t>Compilação</a:t>
          </a:r>
          <a:endParaRPr lang="en-US"/>
        </a:p>
      </dgm:t>
    </dgm:pt>
    <dgm:pt modelId="{619AA515-7F59-48E0-920D-156C7ED301F6}" type="parTrans" cxnId="{841D26F7-E6BA-450E-B149-04D52399EF4A}">
      <dgm:prSet/>
      <dgm:spPr/>
      <dgm:t>
        <a:bodyPr/>
        <a:lstStyle/>
        <a:p>
          <a:endParaRPr lang="en-US"/>
        </a:p>
      </dgm:t>
    </dgm:pt>
    <dgm:pt modelId="{8BF72680-7766-4BAC-B530-229D664C6E67}" type="sibTrans" cxnId="{841D26F7-E6BA-450E-B149-04D52399EF4A}">
      <dgm:prSet/>
      <dgm:spPr/>
      <dgm:t>
        <a:bodyPr/>
        <a:lstStyle/>
        <a:p>
          <a:endParaRPr lang="en-US"/>
        </a:p>
      </dgm:t>
    </dgm:pt>
    <dgm:pt modelId="{87E0584B-6117-40CE-8884-07FCA957E442}">
      <dgm:prSet/>
      <dgm:spPr/>
      <dgm:t>
        <a:bodyPr/>
        <a:lstStyle/>
        <a:p>
          <a:r>
            <a:rPr lang="pt-BR"/>
            <a:t>Interpretação</a:t>
          </a:r>
          <a:endParaRPr lang="en-US"/>
        </a:p>
      </dgm:t>
    </dgm:pt>
    <dgm:pt modelId="{E09C8D79-3C7D-447C-BA34-F72C5BBA2F9B}" type="parTrans" cxnId="{59F44214-FB4F-42F1-A16B-49F700E8F90D}">
      <dgm:prSet/>
      <dgm:spPr/>
      <dgm:t>
        <a:bodyPr/>
        <a:lstStyle/>
        <a:p>
          <a:endParaRPr lang="en-US"/>
        </a:p>
      </dgm:t>
    </dgm:pt>
    <dgm:pt modelId="{95AE7E98-FB5B-4DA0-ADCC-8D12BB006888}" type="sibTrans" cxnId="{59F44214-FB4F-42F1-A16B-49F700E8F90D}">
      <dgm:prSet/>
      <dgm:spPr/>
      <dgm:t>
        <a:bodyPr/>
        <a:lstStyle/>
        <a:p>
          <a:endParaRPr lang="en-US"/>
        </a:p>
      </dgm:t>
    </dgm:pt>
    <dgm:pt modelId="{3BC26CB6-2C1F-454A-9AC2-19EB053C63CA}" type="pres">
      <dgm:prSet presAssocID="{903C25D4-3228-43CD-81E7-AB52156EF1CB}" presName="diagram" presStyleCnt="0">
        <dgm:presLayoutVars>
          <dgm:dir/>
          <dgm:resizeHandles val="exact"/>
        </dgm:presLayoutVars>
      </dgm:prSet>
      <dgm:spPr/>
    </dgm:pt>
    <dgm:pt modelId="{3D579757-4F99-4276-AF1A-AEF6132F7822}" type="pres">
      <dgm:prSet presAssocID="{DE7C5178-51AE-4BD4-825A-11636B3F986A}" presName="node" presStyleLbl="node1" presStyleIdx="0" presStyleCnt="2">
        <dgm:presLayoutVars>
          <dgm:bulletEnabled val="1"/>
        </dgm:presLayoutVars>
      </dgm:prSet>
      <dgm:spPr/>
    </dgm:pt>
    <dgm:pt modelId="{BB8EAF73-F136-4280-8DCC-7F5DF9934F23}" type="pres">
      <dgm:prSet presAssocID="{8BF72680-7766-4BAC-B530-229D664C6E67}" presName="sibTrans" presStyleCnt="0"/>
      <dgm:spPr/>
    </dgm:pt>
    <dgm:pt modelId="{EAD11182-D924-4789-91B8-9A90D0167FA1}" type="pres">
      <dgm:prSet presAssocID="{87E0584B-6117-40CE-8884-07FCA957E442}" presName="node" presStyleLbl="node1" presStyleIdx="1" presStyleCnt="2">
        <dgm:presLayoutVars>
          <dgm:bulletEnabled val="1"/>
        </dgm:presLayoutVars>
      </dgm:prSet>
      <dgm:spPr/>
    </dgm:pt>
  </dgm:ptLst>
  <dgm:cxnLst>
    <dgm:cxn modelId="{59F44214-FB4F-42F1-A16B-49F700E8F90D}" srcId="{903C25D4-3228-43CD-81E7-AB52156EF1CB}" destId="{87E0584B-6117-40CE-8884-07FCA957E442}" srcOrd="1" destOrd="0" parTransId="{E09C8D79-3C7D-447C-BA34-F72C5BBA2F9B}" sibTransId="{95AE7E98-FB5B-4DA0-ADCC-8D12BB006888}"/>
    <dgm:cxn modelId="{72952851-2146-439A-BFF7-2190F80E0752}" type="presOf" srcId="{DE7C5178-51AE-4BD4-825A-11636B3F986A}" destId="{3D579757-4F99-4276-AF1A-AEF6132F7822}" srcOrd="0" destOrd="0" presId="urn:microsoft.com/office/officeart/2005/8/layout/default"/>
    <dgm:cxn modelId="{38E79EC5-6D00-44AC-8880-301F2BF54AD6}" type="presOf" srcId="{903C25D4-3228-43CD-81E7-AB52156EF1CB}" destId="{3BC26CB6-2C1F-454A-9AC2-19EB053C63CA}" srcOrd="0" destOrd="0" presId="urn:microsoft.com/office/officeart/2005/8/layout/default"/>
    <dgm:cxn modelId="{07DA50DF-3E07-4384-A104-E2DC90C1FBA8}" type="presOf" srcId="{87E0584B-6117-40CE-8884-07FCA957E442}" destId="{EAD11182-D924-4789-91B8-9A90D0167FA1}" srcOrd="0" destOrd="0" presId="urn:microsoft.com/office/officeart/2005/8/layout/default"/>
    <dgm:cxn modelId="{841D26F7-E6BA-450E-B149-04D52399EF4A}" srcId="{903C25D4-3228-43CD-81E7-AB52156EF1CB}" destId="{DE7C5178-51AE-4BD4-825A-11636B3F986A}" srcOrd="0" destOrd="0" parTransId="{619AA515-7F59-48E0-920D-156C7ED301F6}" sibTransId="{8BF72680-7766-4BAC-B530-229D664C6E67}"/>
    <dgm:cxn modelId="{11683C8D-272A-47E3-AF36-E9E32A0987D3}" type="presParOf" srcId="{3BC26CB6-2C1F-454A-9AC2-19EB053C63CA}" destId="{3D579757-4F99-4276-AF1A-AEF6132F7822}" srcOrd="0" destOrd="0" presId="urn:microsoft.com/office/officeart/2005/8/layout/default"/>
    <dgm:cxn modelId="{21620775-1525-4720-972C-684BDC847F6B}" type="presParOf" srcId="{3BC26CB6-2C1F-454A-9AC2-19EB053C63CA}" destId="{BB8EAF73-F136-4280-8DCC-7F5DF9934F23}" srcOrd="1" destOrd="0" presId="urn:microsoft.com/office/officeart/2005/8/layout/default"/>
    <dgm:cxn modelId="{04718A5F-8701-49FF-95B7-24A50F013578}" type="presParOf" srcId="{3BC26CB6-2C1F-454A-9AC2-19EB053C63CA}" destId="{EAD11182-D924-4789-91B8-9A90D0167FA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3B4497-F23E-43BC-BED9-28539200069E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92A3188-F51D-411A-A22B-49F594AF8D99}">
      <dgm:prSet/>
      <dgm:spPr/>
      <dgm:t>
        <a:bodyPr/>
        <a:lstStyle/>
        <a:p>
          <a:r>
            <a:rPr lang="pt-BR" i="1" dirty="0"/>
            <a:t>Programas são escritos em uma linguagem formal. </a:t>
          </a:r>
          <a:endParaRPr lang="en-US" dirty="0"/>
        </a:p>
      </dgm:t>
    </dgm:pt>
    <dgm:pt modelId="{64245AA9-CB27-4BAA-8F76-968404A54B9A}" type="parTrans" cxnId="{C65AE274-03A2-4B91-A56B-8144FC33F984}">
      <dgm:prSet/>
      <dgm:spPr/>
      <dgm:t>
        <a:bodyPr/>
        <a:lstStyle/>
        <a:p>
          <a:endParaRPr lang="en-US"/>
        </a:p>
      </dgm:t>
    </dgm:pt>
    <dgm:pt modelId="{B17153FD-C3A8-4BAC-A4B8-82B99BD2C17A}" type="sibTrans" cxnId="{C65AE274-03A2-4B91-A56B-8144FC33F984}">
      <dgm:prSet/>
      <dgm:spPr/>
      <dgm:t>
        <a:bodyPr/>
        <a:lstStyle/>
        <a:p>
          <a:endParaRPr lang="en-US"/>
        </a:p>
      </dgm:t>
    </dgm:pt>
    <dgm:pt modelId="{095E85B0-3D49-4233-837C-61A87AB6B5C5}">
      <dgm:prSet/>
      <dgm:spPr/>
      <dgm:t>
        <a:bodyPr/>
        <a:lstStyle/>
        <a:p>
          <a:r>
            <a:rPr lang="pt-BR" i="1" dirty="0"/>
            <a:t>Cada letra e cada sinal matemático ou de pontuação têm um significado muito preciso. </a:t>
          </a:r>
          <a:endParaRPr lang="en-US" dirty="0"/>
        </a:p>
      </dgm:t>
    </dgm:pt>
    <dgm:pt modelId="{25E17963-5076-4CE4-8308-FED584FEA705}" type="parTrans" cxnId="{30E23B06-BA81-410D-875F-BFFFE8B124AF}">
      <dgm:prSet/>
      <dgm:spPr/>
      <dgm:t>
        <a:bodyPr/>
        <a:lstStyle/>
        <a:p>
          <a:endParaRPr lang="en-US"/>
        </a:p>
      </dgm:t>
    </dgm:pt>
    <dgm:pt modelId="{6A9947ED-C744-4BDE-BEF2-18211D55BED6}" type="sibTrans" cxnId="{30E23B06-BA81-410D-875F-BFFFE8B124AF}">
      <dgm:prSet/>
      <dgm:spPr/>
      <dgm:t>
        <a:bodyPr/>
        <a:lstStyle/>
        <a:p>
          <a:endParaRPr lang="en-US"/>
        </a:p>
      </dgm:t>
    </dgm:pt>
    <dgm:pt modelId="{BB80B577-B56A-4E0F-8305-CC53A70E5DE7}">
      <dgm:prSet/>
      <dgm:spPr/>
      <dgm:t>
        <a:bodyPr/>
        <a:lstStyle/>
        <a:p>
          <a:r>
            <a:rPr lang="pt-BR" i="1"/>
            <a:t>Mudar qualquer um desses sinais pode, muitas vezes, mudar o sentido do programa, ou até fazê-lo parar de funcionar.</a:t>
          </a:r>
          <a:endParaRPr lang="en-US"/>
        </a:p>
      </dgm:t>
    </dgm:pt>
    <dgm:pt modelId="{F3C7D0C3-431B-45EE-B212-3F534639518E}" type="parTrans" cxnId="{B1FEAAAC-A45E-4282-BD0B-EB0657B88E87}">
      <dgm:prSet/>
      <dgm:spPr/>
      <dgm:t>
        <a:bodyPr/>
        <a:lstStyle/>
        <a:p>
          <a:endParaRPr lang="en-US"/>
        </a:p>
      </dgm:t>
    </dgm:pt>
    <dgm:pt modelId="{99889B8A-6FBD-440F-A789-BF47E3CB6F6D}" type="sibTrans" cxnId="{B1FEAAAC-A45E-4282-BD0B-EB0657B88E87}">
      <dgm:prSet/>
      <dgm:spPr/>
      <dgm:t>
        <a:bodyPr/>
        <a:lstStyle/>
        <a:p>
          <a:endParaRPr lang="en-US"/>
        </a:p>
      </dgm:t>
    </dgm:pt>
    <dgm:pt modelId="{6F660D31-E6CD-458B-87DA-EFE971069793}" type="pres">
      <dgm:prSet presAssocID="{243B4497-F23E-43BC-BED9-28539200069E}" presName="linear" presStyleCnt="0">
        <dgm:presLayoutVars>
          <dgm:animLvl val="lvl"/>
          <dgm:resizeHandles val="exact"/>
        </dgm:presLayoutVars>
      </dgm:prSet>
      <dgm:spPr/>
    </dgm:pt>
    <dgm:pt modelId="{46F17602-4BBC-4BFE-9CCC-100ECA710DA1}" type="pres">
      <dgm:prSet presAssocID="{492A3188-F51D-411A-A22B-49F594AF8D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5E26E2-8DB0-42C1-B639-F0DD41ED01DF}" type="pres">
      <dgm:prSet presAssocID="{B17153FD-C3A8-4BAC-A4B8-82B99BD2C17A}" presName="spacer" presStyleCnt="0"/>
      <dgm:spPr/>
    </dgm:pt>
    <dgm:pt modelId="{3CE14585-E338-494A-857B-B1F059121C7E}" type="pres">
      <dgm:prSet presAssocID="{095E85B0-3D49-4233-837C-61A87AB6B5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BA08B6-013B-4F60-AB92-C2357B0324C1}" type="pres">
      <dgm:prSet presAssocID="{6A9947ED-C744-4BDE-BEF2-18211D55BED6}" presName="spacer" presStyleCnt="0"/>
      <dgm:spPr/>
    </dgm:pt>
    <dgm:pt modelId="{AA280ABC-A8A0-45A7-B211-D8644A04D7AE}" type="pres">
      <dgm:prSet presAssocID="{BB80B577-B56A-4E0F-8305-CC53A70E5DE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0E23B06-BA81-410D-875F-BFFFE8B124AF}" srcId="{243B4497-F23E-43BC-BED9-28539200069E}" destId="{095E85B0-3D49-4233-837C-61A87AB6B5C5}" srcOrd="1" destOrd="0" parTransId="{25E17963-5076-4CE4-8308-FED584FEA705}" sibTransId="{6A9947ED-C744-4BDE-BEF2-18211D55BED6}"/>
    <dgm:cxn modelId="{3E18F03A-70E4-4F4D-8691-A88D19D2329A}" type="presOf" srcId="{BB80B577-B56A-4E0F-8305-CC53A70E5DE7}" destId="{AA280ABC-A8A0-45A7-B211-D8644A04D7AE}" srcOrd="0" destOrd="0" presId="urn:microsoft.com/office/officeart/2005/8/layout/vList2"/>
    <dgm:cxn modelId="{C65AE274-03A2-4B91-A56B-8144FC33F984}" srcId="{243B4497-F23E-43BC-BED9-28539200069E}" destId="{492A3188-F51D-411A-A22B-49F594AF8D99}" srcOrd="0" destOrd="0" parTransId="{64245AA9-CB27-4BAA-8F76-968404A54B9A}" sibTransId="{B17153FD-C3A8-4BAC-A4B8-82B99BD2C17A}"/>
    <dgm:cxn modelId="{33318F78-0D33-4514-BCB9-BE204A7CF60E}" type="presOf" srcId="{243B4497-F23E-43BC-BED9-28539200069E}" destId="{6F660D31-E6CD-458B-87DA-EFE971069793}" srcOrd="0" destOrd="0" presId="urn:microsoft.com/office/officeart/2005/8/layout/vList2"/>
    <dgm:cxn modelId="{B1FEAAAC-A45E-4282-BD0B-EB0657B88E87}" srcId="{243B4497-F23E-43BC-BED9-28539200069E}" destId="{BB80B577-B56A-4E0F-8305-CC53A70E5DE7}" srcOrd="2" destOrd="0" parTransId="{F3C7D0C3-431B-45EE-B212-3F534639518E}" sibTransId="{99889B8A-6FBD-440F-A789-BF47E3CB6F6D}"/>
    <dgm:cxn modelId="{97CB24BA-23FE-4764-A4B2-7663FC6636CD}" type="presOf" srcId="{095E85B0-3D49-4233-837C-61A87AB6B5C5}" destId="{3CE14585-E338-494A-857B-B1F059121C7E}" srcOrd="0" destOrd="0" presId="urn:microsoft.com/office/officeart/2005/8/layout/vList2"/>
    <dgm:cxn modelId="{3F2B34EF-BB83-429D-A0FF-58AE236386DF}" type="presOf" srcId="{492A3188-F51D-411A-A22B-49F594AF8D99}" destId="{46F17602-4BBC-4BFE-9CCC-100ECA710DA1}" srcOrd="0" destOrd="0" presId="urn:microsoft.com/office/officeart/2005/8/layout/vList2"/>
    <dgm:cxn modelId="{D33455CE-85AD-4BF9-823D-6AA1824D3DF3}" type="presParOf" srcId="{6F660D31-E6CD-458B-87DA-EFE971069793}" destId="{46F17602-4BBC-4BFE-9CCC-100ECA710DA1}" srcOrd="0" destOrd="0" presId="urn:microsoft.com/office/officeart/2005/8/layout/vList2"/>
    <dgm:cxn modelId="{7E943279-FF86-4CE7-82F7-00400C943F50}" type="presParOf" srcId="{6F660D31-E6CD-458B-87DA-EFE971069793}" destId="{A95E26E2-8DB0-42C1-B639-F0DD41ED01DF}" srcOrd="1" destOrd="0" presId="urn:microsoft.com/office/officeart/2005/8/layout/vList2"/>
    <dgm:cxn modelId="{FEB48380-804C-4D6F-9A81-B297ADFB95E0}" type="presParOf" srcId="{6F660D31-E6CD-458B-87DA-EFE971069793}" destId="{3CE14585-E338-494A-857B-B1F059121C7E}" srcOrd="2" destOrd="0" presId="urn:microsoft.com/office/officeart/2005/8/layout/vList2"/>
    <dgm:cxn modelId="{826FC92C-3938-49F5-BD4D-F628F39B6760}" type="presParOf" srcId="{6F660D31-E6CD-458B-87DA-EFE971069793}" destId="{ECBA08B6-013B-4F60-AB92-C2357B0324C1}" srcOrd="3" destOrd="0" presId="urn:microsoft.com/office/officeart/2005/8/layout/vList2"/>
    <dgm:cxn modelId="{C5745058-C3A6-4B7E-98C2-F96DE60B1FAE}" type="presParOf" srcId="{6F660D31-E6CD-458B-87DA-EFE971069793}" destId="{AA280ABC-A8A0-45A7-B211-D8644A04D7A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B6B316-F687-42B8-98C6-D0152D574ED7}">
      <dsp:nvSpPr>
        <dsp:cNvPr id="0" name=""/>
        <dsp:cNvSpPr/>
      </dsp:nvSpPr>
      <dsp:spPr>
        <a:xfrm>
          <a:off x="920" y="612085"/>
          <a:ext cx="3232267" cy="205249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15E3AFE-3389-46F1-97D6-81C4697A9CB8}">
      <dsp:nvSpPr>
        <dsp:cNvPr id="0" name=""/>
        <dsp:cNvSpPr/>
      </dsp:nvSpPr>
      <dsp:spPr>
        <a:xfrm>
          <a:off x="360061" y="953269"/>
          <a:ext cx="3232267" cy="2052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Linguagem de máquina</a:t>
          </a:r>
          <a:endParaRPr lang="en-US" sz="4000" kern="1200"/>
        </a:p>
      </dsp:txBody>
      <dsp:txXfrm>
        <a:off x="420176" y="1013384"/>
        <a:ext cx="3112037" cy="1932260"/>
      </dsp:txXfrm>
    </dsp:sp>
    <dsp:sp modelId="{145C3F06-C0C6-455D-A74B-CD3425340FA6}">
      <dsp:nvSpPr>
        <dsp:cNvPr id="0" name=""/>
        <dsp:cNvSpPr/>
      </dsp:nvSpPr>
      <dsp:spPr>
        <a:xfrm>
          <a:off x="3951470" y="612085"/>
          <a:ext cx="3232267" cy="205249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109313F-4A3F-4239-A636-37D193163C97}">
      <dsp:nvSpPr>
        <dsp:cNvPr id="0" name=""/>
        <dsp:cNvSpPr/>
      </dsp:nvSpPr>
      <dsp:spPr>
        <a:xfrm>
          <a:off x="4310611" y="953269"/>
          <a:ext cx="3232267" cy="2052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Linguagem de alto nível</a:t>
          </a:r>
          <a:endParaRPr lang="en-US" sz="4000" kern="1200"/>
        </a:p>
      </dsp:txBody>
      <dsp:txXfrm>
        <a:off x="4370726" y="1013384"/>
        <a:ext cx="3112037" cy="1932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579757-4F99-4276-AF1A-AEF6132F7822}">
      <dsp:nvSpPr>
        <dsp:cNvPr id="0" name=""/>
        <dsp:cNvSpPr/>
      </dsp:nvSpPr>
      <dsp:spPr>
        <a:xfrm>
          <a:off x="920" y="731499"/>
          <a:ext cx="3591408" cy="2154845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5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/>
            <a:t>Compilação</a:t>
          </a:r>
          <a:endParaRPr lang="en-US" sz="4100" kern="1200"/>
        </a:p>
      </dsp:txBody>
      <dsp:txXfrm>
        <a:off x="920" y="731499"/>
        <a:ext cx="3591408" cy="2154845"/>
      </dsp:txXfrm>
    </dsp:sp>
    <dsp:sp modelId="{EAD11182-D924-4789-91B8-9A90D0167FA1}">
      <dsp:nvSpPr>
        <dsp:cNvPr id="0" name=""/>
        <dsp:cNvSpPr/>
      </dsp:nvSpPr>
      <dsp:spPr>
        <a:xfrm>
          <a:off x="3951470" y="731499"/>
          <a:ext cx="3591408" cy="2154845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5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/>
            <a:t>Interpretação</a:t>
          </a:r>
          <a:endParaRPr lang="en-US" sz="4100" kern="1200"/>
        </a:p>
      </dsp:txBody>
      <dsp:txXfrm>
        <a:off x="3951470" y="731499"/>
        <a:ext cx="3591408" cy="21548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17602-4BBC-4BFE-9CCC-100ECA710DA1}">
      <dsp:nvSpPr>
        <dsp:cNvPr id="0" name=""/>
        <dsp:cNvSpPr/>
      </dsp:nvSpPr>
      <dsp:spPr>
        <a:xfrm>
          <a:off x="0" y="65143"/>
          <a:ext cx="4319588" cy="14284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i="1" kern="1200" dirty="0"/>
            <a:t>Programas são escritos em uma linguagem formal. </a:t>
          </a:r>
          <a:endParaRPr lang="en-US" sz="2100" kern="1200" dirty="0"/>
        </a:p>
      </dsp:txBody>
      <dsp:txXfrm>
        <a:off x="69730" y="134873"/>
        <a:ext cx="4180128" cy="1288959"/>
      </dsp:txXfrm>
    </dsp:sp>
    <dsp:sp modelId="{3CE14585-E338-494A-857B-B1F059121C7E}">
      <dsp:nvSpPr>
        <dsp:cNvPr id="0" name=""/>
        <dsp:cNvSpPr/>
      </dsp:nvSpPr>
      <dsp:spPr>
        <a:xfrm>
          <a:off x="0" y="1554042"/>
          <a:ext cx="4319588" cy="14284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i="1" kern="1200" dirty="0"/>
            <a:t>Cada letra e cada sinal matemático ou de pontuação têm um significado muito preciso. </a:t>
          </a:r>
          <a:endParaRPr lang="en-US" sz="2100" kern="1200" dirty="0"/>
        </a:p>
      </dsp:txBody>
      <dsp:txXfrm>
        <a:off x="69730" y="1623772"/>
        <a:ext cx="4180128" cy="1288959"/>
      </dsp:txXfrm>
    </dsp:sp>
    <dsp:sp modelId="{AA280ABC-A8A0-45A7-B211-D8644A04D7AE}">
      <dsp:nvSpPr>
        <dsp:cNvPr id="0" name=""/>
        <dsp:cNvSpPr/>
      </dsp:nvSpPr>
      <dsp:spPr>
        <a:xfrm>
          <a:off x="0" y="3042941"/>
          <a:ext cx="4319588" cy="14284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i="1" kern="1200"/>
            <a:t>Mudar qualquer um desses sinais pode, muitas vezes, mudar o sentido do programa, ou até fazê-lo parar de funcionar.</a:t>
          </a:r>
          <a:endParaRPr lang="en-US" sz="2100" kern="1200"/>
        </a:p>
      </dsp:txBody>
      <dsp:txXfrm>
        <a:off x="69730" y="3112671"/>
        <a:ext cx="4180128" cy="12889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61D91-ACD3-4226-A0B2-4533B1215B6A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7348D-4277-424F-817D-78B19C4818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799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NASA - Great Images in NASA Description, Public Domain, https://commons.wikimedia.org/w/index.php?curid=6455009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7348D-4277-424F-817D-78B19C48183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2819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27DB298-9326-49C3-9899-8CA432DBFA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4BA2F8A-99E0-4A30-A417-7D0FB0759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56396B1-6ECC-4B38-967F-19CB34AC49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A74FAA3-8DF6-4AFF-869C-4E0C6479A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5C5CE85-7F51-4914-B69D-1C01086BD1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BE396D5-0F5E-4E7E-9D85-3EC781052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7348D-4277-424F-817D-78B19C48183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022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7348D-4277-424F-817D-78B19C48183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058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Doc </a:t>
            </a:r>
            <a:r>
              <a:rPr lang="en-US" err="1"/>
              <a:t>Searls</a:t>
            </a:r>
            <a:r>
              <a:rPr lang="en-US"/>
              <a:t> - 2006oscon_203.JPG, CC BY-SA 2.0, https://commons.wikimedia.org/w/index.php?curid=4974869</a:t>
            </a: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7348D-4277-424F-817D-78B19C48183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58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2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60648"/>
            <a:ext cx="7772400" cy="640112"/>
          </a:xfrm>
        </p:spPr>
        <p:txBody>
          <a:bodyPr>
            <a:normAutofit/>
          </a:bodyPr>
          <a:lstStyle>
            <a:lvl1pPr algn="ctr">
              <a:defRPr sz="2800" cap="none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8"/>
            <a:ext cx="7772400" cy="483143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268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04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37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31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374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81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4543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182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185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973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79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hyperlink" Target="https://creativecommons.org/licenses/by-nc/3.0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analuizaferes.blogspot.com/2012/04/bifurcacoes.html" TargetMode="External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Liaison_16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2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EF8194B-4E43-4BEF-8D39-035DBDE00B03}"/>
              </a:ext>
            </a:extLst>
          </p:cNvPr>
          <p:cNvSpPr/>
          <p:nvPr/>
        </p:nvSpPr>
        <p:spPr>
          <a:xfrm>
            <a:off x="1540136" y="50994"/>
            <a:ext cx="49455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CEUB</a:t>
            </a:r>
          </a:p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FATECS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46D6EF-0A64-408E-8AD3-A28E69F040D6}"/>
              </a:ext>
            </a:extLst>
          </p:cNvPr>
          <p:cNvSpPr/>
          <p:nvPr/>
        </p:nvSpPr>
        <p:spPr>
          <a:xfrm>
            <a:off x="593890" y="2627034"/>
            <a:ext cx="73529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Análise e Desenvolvimento de Sistemas - ADS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Ciência da Computação - CCO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Engenharia de Software - ESW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0" y="24682"/>
            <a:ext cx="9106225" cy="560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endParaRPr lang="pt-BR" altLang="pt-BR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pt-BR" alt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Disciplina:</a:t>
            </a:r>
          </a:p>
          <a:p>
            <a:br>
              <a:rPr lang="pt-BR" alt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Lógica De Programação - LP</a:t>
            </a:r>
          </a:p>
          <a:p>
            <a:pPr algn="just"/>
            <a:endParaRPr lang="pt-BR" altLang="pt-BR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altLang="pt-BR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altLang="pt-BR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br>
              <a:rPr lang="pt-BR" alt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pt-BR" altLang="pt-BR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pt-BR" alt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79">
            <a:extLst>
              <a:ext uri="{FF2B5EF4-FFF2-40B4-BE49-F238E27FC236}">
                <a16:creationId xmlns:a16="http://schemas.microsoft.com/office/drawing/2014/main" id="{89C8D586-1ECD-4981-BED2-97336112C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https://upload.wikimedia.org/wikipedia/commons/thumb/2/20/IBM_Electronic_Data_Processing_Machine_-_GPN-2000-001881.jpg/1920px-IBM_Electronic_Data_Processing_Machine_-_GPN-2000-001881.jpg">
            <a:extLst>
              <a:ext uri="{FF2B5EF4-FFF2-40B4-BE49-F238E27FC236}">
                <a16:creationId xmlns:a16="http://schemas.microsoft.com/office/drawing/2014/main" id="{4547D532-4333-419D-9BE3-426A94D30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7" r="31265"/>
          <a:stretch/>
        </p:blipFill>
        <p:spPr bwMode="auto">
          <a:xfrm>
            <a:off x="20" y="10"/>
            <a:ext cx="4344315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" name="Group 81">
            <a:extLst>
              <a:ext uri="{FF2B5EF4-FFF2-40B4-BE49-F238E27FC236}">
                <a16:creationId xmlns:a16="http://schemas.microsoft.com/office/drawing/2014/main" id="{AF001A23-2767-4A31-BD30-56112DE95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0" name="Oval 83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C3CE4D7-2523-4BEB-9E7C-010181E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122" y="44624"/>
            <a:ext cx="4549857" cy="1152128"/>
          </a:xfrm>
          <a:ln>
            <a:noFill/>
          </a:ln>
        </p:spPr>
        <p:txBody>
          <a:bodyPr>
            <a:normAutofit/>
          </a:bodyPr>
          <a:lstStyle/>
          <a:p>
            <a:r>
              <a:rPr lang="pt-BR" dirty="0"/>
              <a:t>O que significa “programar” um computador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0A8714-36CA-4DB9-AEBA-B69244B55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4335" y="1412776"/>
            <a:ext cx="4799645" cy="5400600"/>
          </a:xfrm>
        </p:spPr>
        <p:txBody>
          <a:bodyPr>
            <a:noAutofit/>
          </a:bodyPr>
          <a:lstStyle/>
          <a:p>
            <a:r>
              <a:rPr lang="pt-BR" dirty="0"/>
              <a:t>Fornecer à máquina um </a:t>
            </a:r>
            <a:r>
              <a:rPr lang="pt-BR" b="1" dirty="0"/>
              <a:t>conjunto de instruções </a:t>
            </a:r>
            <a:r>
              <a:rPr lang="pt-BR" dirty="0"/>
              <a:t>que indica o que você quer que ela faca.</a:t>
            </a:r>
          </a:p>
          <a:p>
            <a:endParaRPr lang="pt-BR" dirty="0"/>
          </a:p>
          <a:p>
            <a:r>
              <a:rPr lang="pt-BR" dirty="0"/>
              <a:t>Conceito fundamentais:</a:t>
            </a:r>
          </a:p>
          <a:p>
            <a:endParaRPr lang="pt-BR" dirty="0"/>
          </a:p>
          <a:p>
            <a:pPr lvl="1"/>
            <a:r>
              <a:rPr lang="pt-BR" sz="2000" dirty="0"/>
              <a:t>1. </a:t>
            </a:r>
            <a:r>
              <a:rPr lang="pt-BR" sz="2000" b="1" dirty="0"/>
              <a:t>Entrada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2. </a:t>
            </a:r>
            <a:r>
              <a:rPr lang="pt-BR" sz="2000" b="1" dirty="0"/>
              <a:t>Processamento</a:t>
            </a:r>
          </a:p>
          <a:p>
            <a:pPr lvl="2"/>
            <a:r>
              <a:rPr lang="pt-BR" sz="2000" dirty="0"/>
              <a:t>Comandos</a:t>
            </a:r>
          </a:p>
          <a:p>
            <a:pPr lvl="2"/>
            <a:r>
              <a:rPr lang="pt-BR" sz="2000" dirty="0"/>
              <a:t>Seleção</a:t>
            </a:r>
          </a:p>
          <a:p>
            <a:pPr lvl="2"/>
            <a:r>
              <a:rPr lang="pt-BR" sz="2000" dirty="0"/>
              <a:t>Repetição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3. </a:t>
            </a:r>
            <a:r>
              <a:rPr lang="pt-BR" sz="2000" b="1" dirty="0"/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164687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CC058C15-59A3-4B21-8A47-A606C485E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Lógica</a:t>
            </a:r>
            <a:r>
              <a:rPr lang="en-US" altLang="pt-BR" dirty="0"/>
              <a:t> de </a:t>
            </a:r>
            <a:r>
              <a:rPr lang="pt-BR" altLang="pt-BR" dirty="0"/>
              <a:t>programação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2173A16-6C8C-438D-8AB4-1C9B96CDE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Técnica</a:t>
            </a:r>
            <a:r>
              <a:rPr lang="en-US" altLang="pt-BR" dirty="0"/>
              <a:t> de: </a:t>
            </a:r>
            <a:br>
              <a:rPr lang="en-US" altLang="pt-BR" dirty="0"/>
            </a:br>
            <a:r>
              <a:rPr lang="en-US" altLang="pt-BR" dirty="0" err="1"/>
              <a:t>Encadear</a:t>
            </a:r>
            <a:r>
              <a:rPr lang="en-US" altLang="pt-BR" dirty="0"/>
              <a:t> </a:t>
            </a:r>
            <a:r>
              <a:rPr lang="pt-BR" altLang="pt-BR" dirty="0"/>
              <a:t>pensamentos</a:t>
            </a:r>
            <a:r>
              <a:rPr lang="en-US" altLang="pt-BR" dirty="0"/>
              <a:t> para </a:t>
            </a:r>
            <a:r>
              <a:rPr lang="pt-BR" altLang="pt-BR" dirty="0"/>
              <a:t>atingir</a:t>
            </a:r>
            <a:r>
              <a:rPr lang="en-US" altLang="pt-BR" dirty="0"/>
              <a:t> </a:t>
            </a:r>
            <a:r>
              <a:rPr lang="pt-BR" altLang="pt-BR" dirty="0"/>
              <a:t>determinado</a:t>
            </a:r>
            <a:r>
              <a:rPr lang="en-US" altLang="pt-BR" dirty="0"/>
              <a:t> </a:t>
            </a:r>
            <a:r>
              <a:rPr lang="pt-BR" altLang="pt-BR" dirty="0"/>
              <a:t>objetivo.</a:t>
            </a:r>
          </a:p>
          <a:p>
            <a:pPr eaLnBrk="1" hangingPunct="1"/>
            <a:endParaRPr lang="en-US" altLang="pt-BR" dirty="0"/>
          </a:p>
          <a:p>
            <a:pPr eaLnBrk="1" hangingPunct="1"/>
            <a:endParaRPr lang="en-US" altLang="pt-BR" dirty="0"/>
          </a:p>
          <a:p>
            <a:pPr eaLnBrk="1" hangingPunct="1"/>
            <a:r>
              <a:rPr lang="pt-BR" altLang="pt-BR" dirty="0"/>
              <a:t>Uma</a:t>
            </a:r>
            <a:r>
              <a:rPr lang="en-US" altLang="pt-BR" dirty="0"/>
              <a:t> </a:t>
            </a:r>
            <a:r>
              <a:rPr lang="pt-BR" altLang="pt-BR" dirty="0"/>
              <a:t>sequência</a:t>
            </a:r>
            <a:r>
              <a:rPr lang="en-US" altLang="pt-BR" dirty="0"/>
              <a:t> de </a:t>
            </a:r>
            <a:r>
              <a:rPr lang="pt-BR" altLang="pt-BR" dirty="0"/>
              <a:t>instruções</a:t>
            </a:r>
            <a:r>
              <a:rPr lang="en-US" altLang="pt-BR" dirty="0"/>
              <a:t> que </a:t>
            </a:r>
            <a:r>
              <a:rPr lang="pt-BR" altLang="pt-BR" dirty="0"/>
              <a:t>devem</a:t>
            </a:r>
            <a:r>
              <a:rPr lang="en-US" altLang="pt-BR" dirty="0"/>
              <a:t> ser </a:t>
            </a:r>
            <a:r>
              <a:rPr lang="pt-BR" altLang="pt-BR" dirty="0"/>
              <a:t>seguidas</a:t>
            </a:r>
            <a:r>
              <a:rPr lang="en-US" altLang="pt-BR" dirty="0"/>
              <a:t>.</a:t>
            </a:r>
            <a:br>
              <a:rPr lang="en-US" altLang="pt-BR" dirty="0"/>
            </a:br>
            <a:r>
              <a:rPr lang="en-US" altLang="pt-BR" dirty="0"/>
              <a:t>(</a:t>
            </a:r>
            <a:r>
              <a:rPr lang="pt-BR" altLang="pt-BR" dirty="0"/>
              <a:t>algoritmo</a:t>
            </a:r>
            <a:r>
              <a:rPr lang="en-US" altLang="pt-BR" dirty="0"/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42A2C200-ACB8-42B4-88AD-10C3053F2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96591"/>
            <a:ext cx="8686800" cy="1194048"/>
          </a:xfrm>
          <a:noFill/>
        </p:spPr>
        <p:txBody>
          <a:bodyPr lIns="92075" tIns="46038" rIns="92075" bIns="46038">
            <a:normAutofit/>
          </a:bodyPr>
          <a:lstStyle/>
          <a:p>
            <a:pPr eaLnBrk="1" hangingPunct="1"/>
            <a:r>
              <a:rPr lang="pt-BR" altLang="pt-BR" sz="3200" b="1" dirty="0"/>
              <a:t>Resolução de Problemas </a:t>
            </a:r>
            <a:br>
              <a:rPr lang="pt-BR" altLang="pt-BR" sz="3200" b="1" dirty="0"/>
            </a:br>
            <a:r>
              <a:rPr lang="pt-BR" altLang="pt-BR" sz="3200" b="1" dirty="0"/>
              <a:t>Através de Computadores </a:t>
            </a:r>
            <a:endParaRPr lang="pt-BR" altLang="pt-BR" sz="3200" dirty="0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583D52E9-7DB6-4E02-894F-40F1B6EB9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916113"/>
            <a:ext cx="8064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buClrTx/>
              <a:buSzTx/>
              <a:buFontTx/>
              <a:buNone/>
            </a:pPr>
            <a:r>
              <a:rPr kumimoji="1" lang="pt-BR" altLang="pt-BR" sz="2800" b="1" dirty="0">
                <a:latin typeface="Times New Roman" panose="02020603050405020304" pitchFamily="18" charset="0"/>
              </a:rPr>
              <a:t>Processamento de dados</a:t>
            </a:r>
            <a:endParaRPr kumimoji="1" lang="en-US" altLang="pt-BR" sz="2800" dirty="0">
              <a:latin typeface="Times New Roman" panose="02020603050405020304" pitchFamily="18" charset="0"/>
            </a:endParaRPr>
          </a:p>
        </p:txBody>
      </p:sp>
      <p:pic>
        <p:nvPicPr>
          <p:cNvPr id="10245" name="Picture 4" descr="processamento">
            <a:extLst>
              <a:ext uri="{FF2B5EF4-FFF2-40B4-BE49-F238E27FC236}">
                <a16:creationId xmlns:a16="http://schemas.microsoft.com/office/drawing/2014/main" id="{1A420033-B98D-45D6-AB21-C590F680B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213100"/>
            <a:ext cx="70389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AutoShape 6">
            <a:extLst>
              <a:ext uri="{FF2B5EF4-FFF2-40B4-BE49-F238E27FC236}">
                <a16:creationId xmlns:a16="http://schemas.microsoft.com/office/drawing/2014/main" id="{214ABA1B-281D-4C28-B40C-67A02168D514}"/>
              </a:ext>
            </a:extLst>
          </p:cNvPr>
          <p:cNvSpPr>
            <a:spLocks/>
          </p:cNvSpPr>
          <p:nvPr/>
        </p:nvSpPr>
        <p:spPr bwMode="auto">
          <a:xfrm rot="-5400000">
            <a:off x="3347244" y="1412082"/>
            <a:ext cx="2592387" cy="6769100"/>
          </a:xfrm>
          <a:prstGeom prst="leftBrace">
            <a:avLst>
              <a:gd name="adj1" fmla="val 21760"/>
              <a:gd name="adj2" fmla="val 50009"/>
            </a:avLst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800" dirty="0"/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E42289E1-377E-4159-ADA7-79908978A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5876925"/>
            <a:ext cx="19832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dirty="0"/>
              <a:t>Programa</a:t>
            </a: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>
            <a:extLst>
              <a:ext uri="{FF2B5EF4-FFF2-40B4-BE49-F238E27FC236}">
                <a16:creationId xmlns:a16="http://schemas.microsoft.com/office/drawing/2014/main" id="{CBFDDE40-18EF-4A78-90F7-0F62F994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Programas</a:t>
            </a:r>
          </a:p>
        </p:txBody>
      </p:sp>
      <p:sp>
        <p:nvSpPr>
          <p:cNvPr id="12291" name="Espaço Reservado para Conteúdo 2">
            <a:extLst>
              <a:ext uri="{FF2B5EF4-FFF2-40B4-BE49-F238E27FC236}">
                <a16:creationId xmlns:a16="http://schemas.microsoft.com/office/drawing/2014/main" id="{891095E0-DE97-47DF-8428-FDD35AF71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b="1" dirty="0"/>
              <a:t>Jargão</a:t>
            </a:r>
            <a:r>
              <a:rPr lang="pt-BR" altLang="pt-BR" dirty="0"/>
              <a:t>: Software x hardware</a:t>
            </a:r>
          </a:p>
          <a:p>
            <a:endParaRPr lang="pt-BR" altLang="pt-BR" dirty="0"/>
          </a:p>
          <a:p>
            <a:r>
              <a:rPr lang="pt-BR" altLang="pt-BR" dirty="0"/>
              <a:t>Os programas de software são espíritos que habitam as máquinas, o hardware.</a:t>
            </a:r>
          </a:p>
          <a:p>
            <a:endParaRPr lang="pt-BR" altLang="pt-BR" dirty="0"/>
          </a:p>
          <a:p>
            <a:r>
              <a:rPr lang="pt-BR" altLang="pt-BR" dirty="0"/>
              <a:t>Programar não é lidar com hardware.</a:t>
            </a:r>
          </a:p>
          <a:p>
            <a:endParaRPr lang="pt-BR" altLang="pt-BR" dirty="0"/>
          </a:p>
          <a:p>
            <a:r>
              <a:rPr lang="pt-BR" altLang="pt-BR" dirty="0"/>
              <a:t>Programar é lidar com: </a:t>
            </a:r>
            <a:br>
              <a:rPr lang="pt-BR" altLang="pt-BR" dirty="0"/>
            </a:br>
            <a:r>
              <a:rPr lang="pt-BR" altLang="pt-BR" dirty="0"/>
              <a:t>- Processos, raciocínio, métodos, estratégias envolvendo artefatos abstratos. </a:t>
            </a:r>
            <a:br>
              <a:rPr lang="pt-BR" altLang="pt-BR" dirty="0"/>
            </a:br>
            <a:r>
              <a:rPr lang="pt-BR" altLang="pt-BR" dirty="0"/>
              <a:t>(Abelson e </a:t>
            </a:r>
            <a:r>
              <a:rPr lang="pt-BR" altLang="pt-BR" dirty="0" err="1"/>
              <a:t>Sussman</a:t>
            </a:r>
            <a:r>
              <a:rPr lang="pt-BR" altLang="pt-BR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EAFAE768-E9D4-4D9D-B6E0-F3FDCA2DE2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938808"/>
            <a:ext cx="8686800" cy="762000"/>
          </a:xfrm>
          <a:noFill/>
        </p:spPr>
        <p:txBody>
          <a:bodyPr lIns="92075" tIns="46038" rIns="92075" bIns="46038">
            <a:normAutofit fontScale="90000"/>
          </a:bodyPr>
          <a:lstStyle/>
          <a:p>
            <a:pPr eaLnBrk="1" hangingPunct="1"/>
            <a:br>
              <a:rPr lang="pt-BR" altLang="pt-BR"/>
            </a:br>
            <a:endParaRPr lang="pt-BR" altLang="pt-BR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6764761-8C64-437C-A6B6-41742D577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84784"/>
            <a:ext cx="806450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buClrTx/>
              <a:buSzTx/>
              <a:buFontTx/>
              <a:buNone/>
            </a:pPr>
            <a:r>
              <a:rPr kumimoji="1" lang="pt-BR" altLang="pt-BR" sz="2800" b="1" dirty="0">
                <a:latin typeface="Times New Roman" panose="02020603050405020304" pitchFamily="18" charset="0"/>
              </a:rPr>
              <a:t>- Definição de Programas:</a:t>
            </a:r>
          </a:p>
          <a:p>
            <a:pPr algn="just">
              <a:spcBef>
                <a:spcPts val="600"/>
              </a:spcBef>
              <a:buClrTx/>
              <a:buSzTx/>
              <a:buFontTx/>
              <a:buNone/>
            </a:pPr>
            <a:endParaRPr kumimoji="1" lang="pt-BR" altLang="pt-BR" sz="2800" b="1" dirty="0">
              <a:latin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Tx/>
              <a:buSzTx/>
              <a:buFontTx/>
              <a:buNone/>
            </a:pPr>
            <a:r>
              <a:rPr kumimoji="1" lang="pt-BR" altLang="pt-BR" sz="2800" dirty="0">
                <a:latin typeface="Times New Roman" panose="02020603050405020304" pitchFamily="18" charset="0"/>
              </a:rPr>
              <a:t>"</a:t>
            </a:r>
            <a:r>
              <a:rPr kumimoji="1" lang="pt-BR" altLang="pt-BR" sz="2800" b="1" dirty="0">
                <a:latin typeface="Times New Roman" panose="02020603050405020304" pitchFamily="18" charset="0"/>
              </a:rPr>
              <a:t>Programas </a:t>
            </a:r>
            <a:r>
              <a:rPr kumimoji="1" lang="pt-BR" altLang="pt-BR" sz="2800" dirty="0">
                <a:latin typeface="Times New Roman" panose="02020603050405020304" pitchFamily="18" charset="0"/>
              </a:rPr>
              <a:t>são formulações completas de algoritmos, baseados em representações específicas de dados." [Wirth] 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Número de Slide 4">
            <a:extLst>
              <a:ext uri="{FF2B5EF4-FFF2-40B4-BE49-F238E27FC236}">
                <a16:creationId xmlns:a16="http://schemas.microsoft.com/office/drawing/2014/main" id="{8B74D2E0-C887-4F5E-B1D1-DE85EBA929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5CFB20-BBBF-485A-8ADA-4A854B6DD41A}" type="slidenum">
              <a:rPr lang="en-US" altLang="pt-B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pt-BR" sz="1200">
              <a:latin typeface="Arial Black" panose="020B0A040201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BEF0689-2DE5-475E-81D0-32432027D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88640"/>
            <a:ext cx="8686800" cy="762000"/>
          </a:xfrm>
          <a:noFill/>
        </p:spPr>
        <p:txBody>
          <a:bodyPr lIns="92075" tIns="46038" rIns="92075" bIns="46038">
            <a:normAutofit/>
          </a:bodyPr>
          <a:lstStyle/>
          <a:p>
            <a:pPr eaLnBrk="1" hangingPunct="1"/>
            <a:r>
              <a:rPr lang="pt-BR" altLang="pt-BR" b="1"/>
              <a:t>Programação </a:t>
            </a:r>
            <a:endParaRPr lang="pt-BR" altLang="pt-BR" dirty="0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AE144DF-772D-40AA-A267-3A49C1A4C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81125"/>
            <a:ext cx="80645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pt-BR" altLang="pt-BR" sz="2800" b="1" dirty="0">
                <a:latin typeface="Times New Roman" panose="02020603050405020304" pitchFamily="18" charset="0"/>
              </a:rPr>
              <a:t>- Fases para a criação de um programa: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1" lang="pt-BR" altLang="pt-BR" sz="2000" dirty="0">
              <a:latin typeface="Times New Roman" panose="02020603050405020304" pitchFamily="18" charset="0"/>
            </a:endParaRPr>
          </a:p>
        </p:txBody>
      </p:sp>
      <p:pic>
        <p:nvPicPr>
          <p:cNvPr id="15365" name="Picture 4" descr="fases programacao">
            <a:extLst>
              <a:ext uri="{FF2B5EF4-FFF2-40B4-BE49-F238E27FC236}">
                <a16:creationId xmlns:a16="http://schemas.microsoft.com/office/drawing/2014/main" id="{9390D3FA-2E4C-40BF-973B-9A965EAAA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133600"/>
            <a:ext cx="8023225" cy="4607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04966" name="AutoShape 6">
            <a:extLst>
              <a:ext uri="{FF2B5EF4-FFF2-40B4-BE49-F238E27FC236}">
                <a16:creationId xmlns:a16="http://schemas.microsoft.com/office/drawing/2014/main" id="{33FDA1A9-AE3A-4D6E-8FAA-55C1C3C60516}"/>
              </a:ext>
            </a:extLst>
          </p:cNvPr>
          <p:cNvSpPr>
            <a:spLocks/>
          </p:cNvSpPr>
          <p:nvPr/>
        </p:nvSpPr>
        <p:spPr bwMode="auto">
          <a:xfrm>
            <a:off x="6948488" y="2852738"/>
            <a:ext cx="287337" cy="2592387"/>
          </a:xfrm>
          <a:prstGeom prst="leftBrace">
            <a:avLst>
              <a:gd name="adj1" fmla="val 75184"/>
              <a:gd name="adj2" fmla="val 50000"/>
            </a:avLst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800"/>
          </a:p>
        </p:txBody>
      </p:sp>
      <p:sp>
        <p:nvSpPr>
          <p:cNvPr id="1704967" name="Text Box 7">
            <a:extLst>
              <a:ext uri="{FF2B5EF4-FFF2-40B4-BE49-F238E27FC236}">
                <a16:creationId xmlns:a16="http://schemas.microsoft.com/office/drawing/2014/main" id="{2A705BB4-DA35-49CD-8509-3303D8119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3357563"/>
            <a:ext cx="1851789" cy="147732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dirty="0"/>
              <a:t>Entrada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dirty="0" err="1"/>
              <a:t>Processamento</a:t>
            </a:r>
            <a:endParaRPr lang="en-US" altLang="pt-BR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dirty="0" err="1"/>
              <a:t>Saída</a:t>
            </a:r>
            <a:endParaRPr lang="en-US" altLang="pt-BR" sz="1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0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0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4966" grpId="0" animBg="1"/>
      <p:bldP spid="170496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Número de Slide 4">
            <a:extLst>
              <a:ext uri="{FF2B5EF4-FFF2-40B4-BE49-F238E27FC236}">
                <a16:creationId xmlns:a16="http://schemas.microsoft.com/office/drawing/2014/main" id="{D4F194A6-3C5B-4D4D-BEF9-4CCCF60679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5B1BE3-BC4F-4A55-9F77-8F49C6C2EAD2}" type="slidenum">
              <a:rPr lang="en-US" altLang="pt-B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pt-BR" sz="1200" dirty="0">
              <a:latin typeface="Arial Black" panose="020B0A040201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A625C7B-319C-4DE5-BE34-F163D1514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</a:t>
            </a:r>
            <a:r>
              <a:rPr lang="en-US" altLang="pt-BR" dirty="0"/>
              <a:t> 3.1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7DA29A0-E5F4-4756-BFDB-E7A207B83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552" y="1052736"/>
            <a:ext cx="8064896" cy="5544616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pt-BR" alt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Calcular o valor total da compra de um produto.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alt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1: Receba o código do produto</a:t>
            </a:r>
          </a:p>
          <a:p>
            <a:pPr lvl="1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2: Receba o valor do produto</a:t>
            </a:r>
          </a:p>
          <a:p>
            <a:pPr lvl="1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3: Receba quantidade de produto </a:t>
            </a:r>
          </a:p>
          <a:p>
            <a:pPr lvl="1"/>
            <a:endParaRPr lang="pt-BR" alt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4: Calcule o valor total da compra </a:t>
            </a:r>
            <a:b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(valor do produto X quantidade de produto)</a:t>
            </a:r>
          </a:p>
          <a:p>
            <a:pPr lvl="1"/>
            <a:endParaRPr lang="pt-BR" alt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5: Mostre o código do produto e seu valor total da compra</a:t>
            </a:r>
          </a:p>
          <a:p>
            <a:pPr lvl="1"/>
            <a:endParaRPr lang="pt-BR" alt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lvl="1" indent="-174625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alt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Identifique</a:t>
            </a:r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algoritmo acima: </a:t>
            </a:r>
            <a:b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entrada, </a:t>
            </a:r>
            <a:b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processamento e </a:t>
            </a:r>
            <a:b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saída</a:t>
            </a:r>
          </a:p>
          <a:p>
            <a:pPr marL="0" lvl="1" indent="274638"/>
            <a:endParaRPr lang="pt-BR" alt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Número de Slide 4">
            <a:extLst>
              <a:ext uri="{FF2B5EF4-FFF2-40B4-BE49-F238E27FC236}">
                <a16:creationId xmlns:a16="http://schemas.microsoft.com/office/drawing/2014/main" id="{D4F194A6-3C5B-4D4D-BEF9-4CCCF60679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5B1BE3-BC4F-4A55-9F77-8F49C6C2EAD2}" type="slidenum">
              <a:rPr lang="en-US" altLang="pt-B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pt-BR" sz="1200" dirty="0">
              <a:latin typeface="Arial Black" panose="020B0A040201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A625C7B-319C-4DE5-BE34-F163D1514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</a:t>
            </a:r>
            <a:r>
              <a:rPr lang="en-US" altLang="pt-BR" dirty="0"/>
              <a:t> 3.1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7DA29A0-E5F4-4756-BFDB-E7A207B83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552" y="1052736"/>
            <a:ext cx="8064896" cy="5544616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pt-BR" alt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Calcular o valor total da compra de um produto.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alt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1: Receba o código do produto - </a:t>
            </a:r>
            <a:r>
              <a:rPr lang="pt-BR" alt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</a:p>
          <a:p>
            <a:pPr lvl="1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2: Receba o valor do produto - </a:t>
            </a:r>
            <a:r>
              <a:rPr lang="pt-BR" alt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</a:p>
          <a:p>
            <a:pPr lvl="1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3: Receba quantidade de produto - </a:t>
            </a:r>
            <a:r>
              <a:rPr lang="pt-BR" alt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</a:p>
          <a:p>
            <a:pPr lvl="1"/>
            <a:endParaRPr lang="pt-BR" alt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4: Calcule o valor total da compra - </a:t>
            </a:r>
            <a:r>
              <a:rPr lang="pt-BR" alt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processamento</a:t>
            </a:r>
            <a:b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(valor do produto X quantidade de produto)</a:t>
            </a:r>
          </a:p>
          <a:p>
            <a:pPr lvl="1"/>
            <a:endParaRPr lang="pt-BR" alt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alt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Passo 5: Mostre o código do produto e seu valor total da compra - </a:t>
            </a:r>
            <a:r>
              <a:rPr lang="pt-BR" alt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saída</a:t>
            </a:r>
          </a:p>
          <a:p>
            <a:pPr lvl="1"/>
            <a:endParaRPr lang="pt-BR" alt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None/>
            </a:pPr>
            <a:endParaRPr lang="pt-BR" alt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40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Número de Slide 4">
            <a:extLst>
              <a:ext uri="{FF2B5EF4-FFF2-40B4-BE49-F238E27FC236}">
                <a16:creationId xmlns:a16="http://schemas.microsoft.com/office/drawing/2014/main" id="{50A1A4BD-0959-4BF6-9438-7FD07C32B4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2446E7-7FD6-495D-AA35-8F2F82C46950}" type="slidenum">
              <a:rPr lang="en-US" altLang="pt-B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pt-BR" sz="1200" dirty="0">
              <a:latin typeface="Arial Black" panose="020B0A040201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FE642E4-C3A1-472A-B129-9A002FF9E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Exercício 3.2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CD5FEE6-4EA7-40F1-99C4-571BFCB1F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24743"/>
            <a:ext cx="7772400" cy="5616625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dirty="0"/>
              <a:t>1. </a:t>
            </a:r>
            <a:r>
              <a:rPr lang="pt-BR" altLang="pt-BR" b="1" dirty="0"/>
              <a:t>Problema</a:t>
            </a:r>
            <a:r>
              <a:rPr lang="pt-BR" altLang="pt-BR" dirty="0"/>
              <a:t>:</a:t>
            </a:r>
            <a:br>
              <a:rPr lang="pt-BR" altLang="pt-BR" dirty="0"/>
            </a:br>
            <a:r>
              <a:rPr lang="pt-BR" altLang="pt-BR" dirty="0"/>
              <a:t>Calcular a média aritmética final de um aluno. </a:t>
            </a:r>
            <a:br>
              <a:rPr lang="pt-BR" altLang="pt-BR" dirty="0"/>
            </a:br>
            <a:r>
              <a:rPr lang="pt-BR" altLang="pt-BR" dirty="0"/>
              <a:t>O aluno realizou quatro avaliações: A1, A2, A3 e A4.</a:t>
            </a:r>
          </a:p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2. </a:t>
            </a:r>
            <a:r>
              <a:rPr lang="pt-BR" altLang="pt-BR" b="1" dirty="0"/>
              <a:t>Responda</a:t>
            </a:r>
            <a:r>
              <a:rPr lang="pt-BR" altLang="pt-BR" dirty="0"/>
              <a:t>:</a:t>
            </a:r>
          </a:p>
          <a:p>
            <a:pPr lvl="1" eaLnBrk="1" hangingPunct="1"/>
            <a:r>
              <a:rPr lang="pt-BR" altLang="pt-BR" sz="2000" dirty="0"/>
              <a:t>Quais são os dados de entrada?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Qual é o processamento?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Qual o dado de saída?</a:t>
            </a:r>
          </a:p>
          <a:p>
            <a:pPr lvl="1" eaLnBrk="1" hangingPunct="1"/>
            <a:endParaRPr lang="pt-BR" altLang="pt-BR" sz="2000" dirty="0"/>
          </a:p>
          <a:p>
            <a:pPr eaLnBrk="1" hangingPunct="1"/>
            <a:r>
              <a:rPr lang="pt-BR" altLang="pt-BR" dirty="0"/>
              <a:t>3. </a:t>
            </a:r>
            <a:r>
              <a:rPr lang="pt-BR" altLang="pt-BR" b="1" dirty="0"/>
              <a:t>No próximo </a:t>
            </a:r>
            <a:r>
              <a:rPr lang="pt-BR" altLang="pt-BR" dirty="0"/>
              <a:t>slide, encontre:</a:t>
            </a:r>
            <a:br>
              <a:rPr lang="pt-BR" altLang="pt-BR" dirty="0"/>
            </a:br>
            <a:r>
              <a:rPr lang="pt-BR" altLang="pt-BR" dirty="0"/>
              <a:t>- A entrada, </a:t>
            </a:r>
            <a:br>
              <a:rPr lang="pt-BR" altLang="pt-BR" dirty="0"/>
            </a:br>
            <a:r>
              <a:rPr lang="pt-BR" altLang="pt-BR" dirty="0"/>
              <a:t>- O processamento e </a:t>
            </a:r>
            <a:br>
              <a:rPr lang="pt-BR" altLang="pt-BR" dirty="0"/>
            </a:br>
            <a:r>
              <a:rPr lang="pt-BR" altLang="pt-BR" dirty="0"/>
              <a:t>- A saída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Número de Slide 4">
            <a:extLst>
              <a:ext uri="{FF2B5EF4-FFF2-40B4-BE49-F238E27FC236}">
                <a16:creationId xmlns:a16="http://schemas.microsoft.com/office/drawing/2014/main" id="{15D74A4B-4047-4819-8A13-90C8846B69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282F6E-6DB6-4E22-B67A-244119F2CEA9}" type="slidenum">
              <a:rPr lang="pt-BR" altLang="pt-B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200">
              <a:latin typeface="Arial Black" panose="020B0A040201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65E524A-3240-4C5F-B61C-C9BF9643C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Exercício 3.2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CE14813-3DA7-4E20-A623-C1C80B5D2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40768"/>
            <a:ext cx="7772400" cy="5040560"/>
          </a:xfrm>
        </p:spPr>
        <p:txBody>
          <a:bodyPr>
            <a:normAutofit/>
          </a:bodyPr>
          <a:lstStyle/>
          <a:p>
            <a:r>
              <a:rPr lang="pt-BR" altLang="pt-BR" dirty="0"/>
              <a:t>1. </a:t>
            </a:r>
            <a:r>
              <a:rPr lang="pt-BR" altLang="pt-BR" b="1" dirty="0"/>
              <a:t>Problema</a:t>
            </a:r>
            <a:r>
              <a:rPr lang="pt-BR" altLang="pt-BR" dirty="0"/>
              <a:t>:</a:t>
            </a:r>
            <a:br>
              <a:rPr lang="pt-BR" altLang="pt-BR" dirty="0"/>
            </a:br>
            <a:r>
              <a:rPr lang="pt-BR" altLang="pt-BR" dirty="0"/>
              <a:t>Calcular a média aritmética final de um aluno. </a:t>
            </a:r>
            <a:br>
              <a:rPr lang="pt-BR" altLang="pt-BR" dirty="0"/>
            </a:br>
            <a:r>
              <a:rPr lang="pt-BR" altLang="pt-BR" dirty="0"/>
              <a:t>O aluno realizou quatro avaliações: A1, A2, A3 e A4.</a:t>
            </a:r>
          </a:p>
          <a:p>
            <a:endParaRPr lang="pt-BR" altLang="pt-BR" dirty="0"/>
          </a:p>
          <a:p>
            <a:r>
              <a:rPr lang="pt-BR" altLang="pt-BR" dirty="0"/>
              <a:t>2. </a:t>
            </a:r>
            <a:r>
              <a:rPr lang="pt-BR" altLang="pt-BR" b="1" dirty="0"/>
              <a:t>Responda</a:t>
            </a:r>
            <a:r>
              <a:rPr lang="pt-BR" altLang="pt-BR" dirty="0"/>
              <a:t>:</a:t>
            </a:r>
          </a:p>
          <a:p>
            <a:pPr lvl="1" eaLnBrk="1" hangingPunct="1"/>
            <a:r>
              <a:rPr lang="pt-BR" altLang="pt-BR" sz="2000" dirty="0"/>
              <a:t>Quais são os dados de entrada? </a:t>
            </a:r>
            <a:r>
              <a:rPr lang="pt-BR" altLang="pt-BR" sz="2000" dirty="0">
                <a:solidFill>
                  <a:srgbClr val="FF0000"/>
                </a:solidFill>
              </a:rPr>
              <a:t>A1, A2, A3, A4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Qual é o processamento? </a:t>
            </a:r>
            <a:r>
              <a:rPr lang="pt-BR" altLang="pt-BR" sz="2000" dirty="0">
                <a:solidFill>
                  <a:srgbClr val="FF0000"/>
                </a:solidFill>
              </a:rPr>
              <a:t>(A1+A2+A3+A4) / 4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Qual o dado de saída? </a:t>
            </a:r>
            <a:r>
              <a:rPr lang="pt-BR" altLang="pt-BR" sz="2000" dirty="0">
                <a:solidFill>
                  <a:srgbClr val="FF0000"/>
                </a:solidFill>
              </a:rPr>
              <a:t>O valor da média</a:t>
            </a:r>
            <a:br>
              <a:rPr lang="pt-BR" altLang="pt-BR" sz="2000" dirty="0">
                <a:solidFill>
                  <a:srgbClr val="FF0000"/>
                </a:solidFill>
              </a:rPr>
            </a:br>
            <a:endParaRPr lang="pt-BR" altLang="pt-BR" sz="2000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endParaRPr lang="pt-BR" altLang="pt-BR" sz="2000" dirty="0"/>
          </a:p>
          <a:p>
            <a:pPr>
              <a:buClr>
                <a:srgbClr val="D34817">
                  <a:lumMod val="75000"/>
                </a:srgbClr>
              </a:buClr>
            </a:pPr>
            <a:r>
              <a:rPr lang="pt-BR" altLang="pt-BR" dirty="0"/>
              <a:t>3. </a:t>
            </a:r>
            <a:r>
              <a:rPr lang="pt-BR" altLang="pt-BR" b="1" dirty="0"/>
              <a:t>No próximo slide</a:t>
            </a:r>
            <a:r>
              <a:rPr lang="pt-BR" altLang="pt-BR" dirty="0"/>
              <a:t>:</a:t>
            </a:r>
            <a:br>
              <a:rPr lang="pt-BR" altLang="pt-BR" dirty="0"/>
            </a:br>
            <a:r>
              <a:rPr lang="pt-BR" altLang="pt-BR" dirty="0"/>
              <a:t>Desenvolva o algoritmo para resolver esse problema</a:t>
            </a:r>
          </a:p>
          <a:p>
            <a:pPr marL="274320" lvl="1" indent="0" eaLnBrk="1" hangingPunct="1">
              <a:buNone/>
            </a:pPr>
            <a:endParaRPr lang="pt-BR" altLang="pt-BR" sz="2000" dirty="0">
              <a:solidFill>
                <a:srgbClr val="FF0000"/>
              </a:solidFill>
            </a:endParaRPr>
          </a:p>
          <a:p>
            <a:pPr lvl="1" eaLnBrk="1" hangingPunct="1"/>
            <a:endParaRPr lang="pt-BR" altLang="pt-BR" sz="2000" dirty="0">
              <a:solidFill>
                <a:srgbClr val="FF0000"/>
              </a:solidFill>
            </a:endParaRPr>
          </a:p>
          <a:p>
            <a:pPr lvl="1" eaLnBrk="1" hangingPunct="1"/>
            <a:endParaRPr lang="pt-BR" altLang="pt-BR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7254FE7D-55C0-4255-90AF-2E67AECB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Exercício 3.2</a:t>
            </a:r>
          </a:p>
        </p:txBody>
      </p:sp>
      <p:sp>
        <p:nvSpPr>
          <p:cNvPr id="21507" name="Espaço Reservado para Conteúdo 2">
            <a:extLst>
              <a:ext uri="{FF2B5EF4-FFF2-40B4-BE49-F238E27FC236}">
                <a16:creationId xmlns:a16="http://schemas.microsoft.com/office/drawing/2014/main" id="{39560C25-1E1C-4703-B255-F33FEAEB7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</a:pPr>
            <a:r>
              <a:rPr lang="pt-BR" altLang="pt-BR" sz="2000" b="1" dirty="0"/>
              <a:t>Algoritmo</a:t>
            </a:r>
            <a:r>
              <a:rPr lang="pt-BR" altLang="pt-BR" sz="2000" dirty="0"/>
              <a:t>: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z="2000" dirty="0"/>
          </a:p>
          <a:p>
            <a:pPr lvl="1" eaLnBrk="1" hangingPunct="1">
              <a:lnSpc>
                <a:spcPct val="90000"/>
              </a:lnSpc>
            </a:pPr>
            <a:endParaRPr lang="pt-BR" altLang="pt-BR" sz="2000" dirty="0"/>
          </a:p>
          <a:p>
            <a:pPr lvl="1" eaLnBrk="1" hangingPunct="1">
              <a:lnSpc>
                <a:spcPct val="90000"/>
              </a:lnSpc>
            </a:pPr>
            <a:r>
              <a:rPr lang="pt-BR" altLang="pt-BR" sz="2000" dirty="0"/>
              <a:t>Receba os dados A1, A2, A3 e A4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z="2000" dirty="0"/>
          </a:p>
          <a:p>
            <a:pPr lvl="1" eaLnBrk="1" hangingPunct="1">
              <a:lnSpc>
                <a:spcPct val="90000"/>
              </a:lnSpc>
            </a:pPr>
            <a:r>
              <a:rPr lang="pt-BR" altLang="pt-BR" sz="2000" dirty="0"/>
              <a:t>Calcule a média = (A1+A2+A3+A4) / 4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z="2000" dirty="0"/>
          </a:p>
          <a:p>
            <a:pPr lvl="1" eaLnBrk="1" hangingPunct="1">
              <a:lnSpc>
                <a:spcPct val="90000"/>
              </a:lnSpc>
            </a:pPr>
            <a:r>
              <a:rPr lang="pt-BR" altLang="pt-BR" sz="2000" dirty="0"/>
              <a:t>Mostre o valor da média</a:t>
            </a:r>
          </a:p>
        </p:txBody>
      </p:sp>
      <p:sp>
        <p:nvSpPr>
          <p:cNvPr id="21508" name="Espaço Reservado para Número de Slide 3">
            <a:extLst>
              <a:ext uri="{FF2B5EF4-FFF2-40B4-BE49-F238E27FC236}">
                <a16:creationId xmlns:a16="http://schemas.microsoft.com/office/drawing/2014/main" id="{EE13EA66-6B42-4F97-8339-70E93D215F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A10847-063B-4DD9-9483-85D00255A7F7}" type="slidenum">
              <a:rPr lang="pt-BR" altLang="pt-B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árvore, grama, trem, trilho&#10;&#10;Descrição gerada com muito alta confiança">
            <a:extLst>
              <a:ext uri="{FF2B5EF4-FFF2-40B4-BE49-F238E27FC236}">
                <a16:creationId xmlns:a16="http://schemas.microsoft.com/office/drawing/2014/main" id="{8AEACDD5-106D-4162-BEDB-7996950CC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00526" y="908720"/>
            <a:ext cx="5336675" cy="4680520"/>
          </a:xfrm>
          <a:prstGeom prst="rect">
            <a:avLst/>
          </a:prstGeom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2FD0592-5D97-4EEF-BCC3-C121CDA8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7229" y="116632"/>
            <a:ext cx="3266767" cy="576064"/>
          </a:xfrm>
          <a:ln>
            <a:noFill/>
          </a:ln>
        </p:spPr>
        <p:txBody>
          <a:bodyPr>
            <a:normAutofit/>
          </a:bodyPr>
          <a:lstStyle/>
          <a:p>
            <a:r>
              <a:rPr lang="pt-BR" sz="2800" dirty="0"/>
              <a:t>Estrutura de </a:t>
            </a:r>
            <a:r>
              <a:rPr lang="pt-BR" sz="2800" b="1" dirty="0"/>
              <a:t>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F5E4C-0650-4831-A04F-28A4AA67E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233" y="1196752"/>
            <a:ext cx="3266768" cy="5661248"/>
          </a:xfrm>
        </p:spPr>
        <p:txBody>
          <a:bodyPr>
            <a:no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par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determinar se um aluno foi aprovado ou reprovado: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Obtenha como entrada a média final do aluno.</a:t>
            </a:r>
          </a:p>
          <a:p>
            <a:pPr lvl="1"/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média final foi maior ou igual a 5:</a:t>
            </a:r>
          </a:p>
          <a:p>
            <a:pPr lvl="2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 como saída que o aluno foi aprovado.</a:t>
            </a:r>
          </a:p>
          <a:p>
            <a:pPr lvl="2"/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 como saída que o aluno foi reprovado.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1C2559-2A9B-48F7-9D43-0EE807FC6782}"/>
              </a:ext>
            </a:extLst>
          </p:cNvPr>
          <p:cNvSpPr txBox="1"/>
          <p:nvPr/>
        </p:nvSpPr>
        <p:spPr>
          <a:xfrm>
            <a:off x="2769107" y="4672899"/>
            <a:ext cx="2868094" cy="200055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5" tooltip="http://analuizaferes.blogspot.com/2012/04/bifurcacoe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licenciada em </a:t>
            </a:r>
            <a:r>
              <a:rPr lang="pt-BR" sz="700">
                <a:solidFill>
                  <a:srgbClr val="FFFFFF"/>
                </a:solidFill>
                <a:hlinkClick r:id="rId7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46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xícara, mesa, café, interior&#10;&#10;Descrição gerada com muito alta confiança">
            <a:extLst>
              <a:ext uri="{FF2B5EF4-FFF2-40B4-BE49-F238E27FC236}">
                <a16:creationId xmlns:a16="http://schemas.microsoft.com/office/drawing/2014/main" id="{7FBD50A7-6B92-429D-B983-69CBF11C98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748" r="17802" b="-2"/>
          <a:stretch/>
        </p:blipFill>
        <p:spPr>
          <a:xfrm>
            <a:off x="107504" y="1772816"/>
            <a:ext cx="3579876" cy="39806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8D8440-24E2-4FF0-A47B-FC6B043A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6632"/>
            <a:ext cx="7543800" cy="712120"/>
          </a:xfrm>
        </p:spPr>
        <p:txBody>
          <a:bodyPr>
            <a:normAutofit/>
          </a:bodyPr>
          <a:lstStyle/>
          <a:p>
            <a:r>
              <a:rPr lang="pt-BR" b="1" dirty="0"/>
              <a:t>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C0303C-4E64-4711-A325-C3BB6116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7380" y="980728"/>
            <a:ext cx="5456620" cy="5191472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b="1" dirty="0"/>
              <a:t>Algoritmo</a:t>
            </a:r>
            <a:r>
              <a:rPr lang="pt-BR" dirty="0"/>
              <a:t> para monitorar a febre de um paciente:</a:t>
            </a:r>
          </a:p>
          <a:p>
            <a:endParaRPr lang="pt-BR" dirty="0"/>
          </a:p>
          <a:p>
            <a:pPr lvl="1"/>
            <a:r>
              <a:rPr lang="pt-BR" sz="2000" dirty="0"/>
              <a:t>Verifique a temperatura</a:t>
            </a:r>
          </a:p>
          <a:p>
            <a:pPr lvl="1"/>
            <a:endParaRPr lang="pt-BR" sz="2000" dirty="0"/>
          </a:p>
          <a:p>
            <a:pPr lvl="1"/>
            <a:r>
              <a:rPr lang="pt-BR" sz="2000" b="1" dirty="0"/>
              <a:t>Enquanto</a:t>
            </a:r>
            <a:r>
              <a:rPr lang="pt-BR" sz="2000" dirty="0"/>
              <a:t> a temperatura não for febre:</a:t>
            </a:r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 Aguarde trinta minutos</a:t>
            </a:r>
          </a:p>
          <a:p>
            <a:pPr lvl="2"/>
            <a:r>
              <a:rPr lang="pt-BR" sz="2000" dirty="0"/>
              <a:t> Verifique a temperatura novamente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Ative o alarme de febre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7DA7B2-22B0-45AE-99EA-B6EED8DE1999}"/>
              </a:ext>
            </a:extLst>
          </p:cNvPr>
          <p:cNvSpPr txBox="1"/>
          <p:nvPr/>
        </p:nvSpPr>
        <p:spPr>
          <a:xfrm>
            <a:off x="1596300" y="5973669"/>
            <a:ext cx="278153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fr.wikipedia.org/wiki/Liaison_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35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E7CC36-81F7-4533-9995-DEE9E3FE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pt-BR"/>
              <a:t>Níveis de linguagem</a:t>
            </a:r>
          </a:p>
        </p:txBody>
      </p:sp>
      <p:graphicFrame>
        <p:nvGraphicFramePr>
          <p:cNvPr id="5" name="Espaço Reservado para Conteúdo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368656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5806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F38BF7-8C39-4878-AEF6-B4B5BD81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pt-BR" b="1" dirty="0"/>
              <a:t>Processos de tradução</a:t>
            </a:r>
          </a:p>
        </p:txBody>
      </p:sp>
      <p:graphicFrame>
        <p:nvGraphicFramePr>
          <p:cNvPr id="5" name="Espaço Reservado para Conteúdo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5642267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6481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F15AE3-A549-4E9C-A62A-C6256C1EEF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89832D-7426-4DC3-9DFD-E3E3BB473A2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203" y="653241"/>
            <a:ext cx="818159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38A7C6-2A60-4720-B4A8-8703EF35ECF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0" y="822324"/>
            <a:ext cx="3862197" cy="5228279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9A336F-42B4-43F8-B0F7-77F5CBD1E08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203" y="6121662"/>
            <a:ext cx="818159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C55822-1219-4F29-AA62-8B91ABD9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1315" y="1477131"/>
            <a:ext cx="3851482" cy="3915866"/>
          </a:xfrm>
        </p:spPr>
        <p:txBody>
          <a:bodyPr>
            <a:normAutofit/>
          </a:bodyPr>
          <a:lstStyle/>
          <a:p>
            <a:r>
              <a:rPr lang="pt-BR" sz="3400" dirty="0"/>
              <a:t>Linguagens de programação</a:t>
            </a:r>
          </a:p>
        </p:txBody>
      </p:sp>
      <p:graphicFrame>
        <p:nvGraphicFramePr>
          <p:cNvPr id="5" name="Espaço Reservado para Conteúdo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037138"/>
              </p:ext>
            </p:extLst>
          </p:nvPr>
        </p:nvGraphicFramePr>
        <p:xfrm>
          <a:off x="324420" y="1196752"/>
          <a:ext cx="4319588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246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C8D586-1ECD-4981-BED2-97336112C0A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F001A23-2767-4A31-BD30-56112DE9527E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ítulo 6">
            <a:extLst>
              <a:ext uri="{FF2B5EF4-FFF2-40B4-BE49-F238E27FC236}">
                <a16:creationId xmlns:a16="http://schemas.microsoft.com/office/drawing/2014/main" id="{C89BCFB0-4178-4141-8D48-C7A37655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4624"/>
            <a:ext cx="7772400" cy="432048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Linguagens de programação - Criadores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C492246-03F4-4128-8CE3-D469AC49C79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79512" y="521295"/>
            <a:ext cx="8692786" cy="643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6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C8D586-1ECD-4981-BED2-97336112C0A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F001A23-2767-4A31-BD30-56112DE9527E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ítulo 6">
            <a:extLst>
              <a:ext uri="{FF2B5EF4-FFF2-40B4-BE49-F238E27FC236}">
                <a16:creationId xmlns:a16="http://schemas.microsoft.com/office/drawing/2014/main" id="{C89BCFB0-4178-4141-8D48-C7A37655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4624"/>
            <a:ext cx="7772400" cy="432048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Linguagens de programação - Criadores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E802A15-0EA8-4AD7-8394-7C2E50B03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06" y="615738"/>
            <a:ext cx="8714681" cy="636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0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C8D586-1ECD-4981-BED2-97336112C0A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https://upload.wikimedia.org/wikipedia/commons/thumb/6/66/Guido_van_Rossum_OSCON_2006.jpg/800px-Guido_van_Rossum_OSCON_2006.jpg">
            <a:extLst>
              <a:ext uri="{FF2B5EF4-FFF2-40B4-BE49-F238E27FC236}">
                <a16:creationId xmlns:a16="http://schemas.microsoft.com/office/drawing/2014/main" id="{B530522B-0009-4186-92B1-F76BEA34D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"/>
          <a:stretch/>
        </p:blipFill>
        <p:spPr bwMode="auto">
          <a:xfrm>
            <a:off x="67783" y="15808"/>
            <a:ext cx="4320819" cy="684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AF001A23-2767-4A31-BD30-56112DE9527E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1B91F90-FC4E-4031-9DA1-D116763B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142" y="44624"/>
            <a:ext cx="4549857" cy="1008112"/>
          </a:xfrm>
          <a:ln>
            <a:noFill/>
          </a:ln>
        </p:spPr>
        <p:txBody>
          <a:bodyPr>
            <a:normAutofit/>
          </a:bodyPr>
          <a:lstStyle/>
          <a:p>
            <a:r>
              <a:rPr lang="pt-BR" dirty="0"/>
              <a:t>História da linguagem </a:t>
            </a:r>
            <a:r>
              <a:rPr lang="pt-BR" b="1" dirty="0"/>
              <a:t>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3D077-FD47-4D77-B196-54DD2E174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8602" y="1340768"/>
            <a:ext cx="4711131" cy="5184575"/>
          </a:xfrm>
        </p:spPr>
        <p:txBody>
          <a:bodyPr>
            <a:noAutofit/>
          </a:bodyPr>
          <a:lstStyle/>
          <a:p>
            <a:r>
              <a:rPr lang="pt-BR" dirty="0"/>
              <a:t>Surgimento: 1991</a:t>
            </a:r>
          </a:p>
          <a:p>
            <a:endParaRPr lang="pt-BR" dirty="0"/>
          </a:p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(Holanda, 1956)</a:t>
            </a:r>
          </a:p>
          <a:p>
            <a:endParaRPr lang="pt-BR" dirty="0"/>
          </a:p>
          <a:p>
            <a:r>
              <a:rPr lang="pt-BR" dirty="0"/>
              <a:t>Objetivo: </a:t>
            </a:r>
            <a:br>
              <a:rPr lang="pt-BR" dirty="0"/>
            </a:br>
            <a:r>
              <a:rPr lang="pt-BR" dirty="0"/>
              <a:t>Simplificar o processo de programação</a:t>
            </a:r>
          </a:p>
          <a:p>
            <a:pPr lvl="1"/>
            <a:endParaRPr lang="pt-BR" sz="2000" dirty="0"/>
          </a:p>
          <a:p>
            <a:r>
              <a:rPr lang="pt-BR" dirty="0"/>
              <a:t>Preferida para ensino 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34345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B8C03-73D2-491E-85DC-FE1ED16B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Como obter um ambiente de programação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B58F1-71B1-42B1-AC19-AFEC4B898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124744"/>
            <a:ext cx="7772400" cy="4831432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b="1" dirty="0"/>
              <a:t>IDE</a:t>
            </a:r>
            <a:r>
              <a:rPr lang="pt-BR" dirty="0"/>
              <a:t> 	- </a:t>
            </a:r>
            <a:r>
              <a:rPr lang="pt-BR" i="1" dirty="0" err="1"/>
              <a:t>Integrated</a:t>
            </a:r>
            <a:r>
              <a:rPr lang="pt-BR" i="1" dirty="0"/>
              <a:t> </a:t>
            </a:r>
            <a:r>
              <a:rPr lang="pt-BR" i="1" dirty="0" err="1"/>
              <a:t>Development</a:t>
            </a:r>
            <a:r>
              <a:rPr lang="pt-BR" i="1" dirty="0"/>
              <a:t> </a:t>
            </a:r>
            <a:r>
              <a:rPr lang="pt-BR" i="1" dirty="0" err="1"/>
              <a:t>Environment</a:t>
            </a:r>
            <a:endParaRPr lang="pt-BR" i="1" dirty="0"/>
          </a:p>
          <a:p>
            <a:pPr marL="0" indent="0">
              <a:buNone/>
            </a:pPr>
            <a:r>
              <a:rPr lang="pt-BR" dirty="0"/>
              <a:t>	- Ambiente de Desenvolvimento Integrado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PyCharm</a:t>
            </a:r>
            <a:r>
              <a:rPr lang="pt-BR" dirty="0"/>
              <a:t> – IDE específico de Python</a:t>
            </a:r>
          </a:p>
          <a:p>
            <a:endParaRPr lang="pt-BR" dirty="0"/>
          </a:p>
          <a:p>
            <a:pPr lvl="1"/>
            <a:r>
              <a:rPr lang="pt-BR" sz="2000" b="1" dirty="0"/>
              <a:t>Versão “Community” – gratuita – para profissionais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Versão “Edu” – gratuita – para aprendizagem</a:t>
            </a:r>
          </a:p>
        </p:txBody>
      </p:sp>
    </p:spTree>
    <p:extLst>
      <p:ext uri="{BB962C8B-B14F-4D97-AF65-F5344CB8AC3E}">
        <p14:creationId xmlns:p14="http://schemas.microsoft.com/office/powerpoint/2010/main" val="160349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7FFE6539-27A7-40BE-9818-B2B3D1878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altLang="pt-BR" dirty="0"/>
              <a:t>Formas de expressar um algoritmo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487BDE4-CCB7-49E4-B521-CFC5B90D5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3608" y="1559024"/>
            <a:ext cx="7128792" cy="3886200"/>
          </a:xfrm>
        </p:spPr>
        <p:txBody>
          <a:bodyPr/>
          <a:lstStyle/>
          <a:p>
            <a:pPr eaLnBrk="1" hangingPunct="1"/>
            <a:r>
              <a:rPr lang="pt-BR" altLang="pt-BR" dirty="0"/>
              <a:t>1. Descrição narrativa</a:t>
            </a:r>
          </a:p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2. Fluxograma convencional</a:t>
            </a:r>
          </a:p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3. Notação de pseudocódigo</a:t>
            </a:r>
          </a:p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4. Linguagem de programação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0DE54F40-7857-4D71-824E-A8FA9B01B9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b="1" dirty="0"/>
              <a:t>1. Descrição narrativa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C6DDF9A-6BDF-4DE3-B532-BF76475D4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40768"/>
            <a:ext cx="7772400" cy="5400600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dirty="0"/>
              <a:t>1. Qual o </a:t>
            </a:r>
            <a:r>
              <a:rPr lang="pt-BR" altLang="pt-BR" b="1" dirty="0"/>
              <a:t>problema</a:t>
            </a:r>
            <a:r>
              <a:rPr lang="pt-BR" altLang="pt-BR" dirty="0"/>
              <a:t>?</a:t>
            </a:r>
            <a:br>
              <a:rPr lang="pt-BR" altLang="pt-BR" dirty="0"/>
            </a:br>
            <a:r>
              <a:rPr lang="pt-BR" altLang="pt-BR" dirty="0"/>
              <a:t>- Gerar o boletim de um aluno com a mensagem</a:t>
            </a:r>
            <a:br>
              <a:rPr lang="pt-BR" altLang="pt-BR" dirty="0"/>
            </a:br>
            <a:r>
              <a:rPr lang="pt-BR" altLang="pt-BR" dirty="0"/>
              <a:t>“Aprovado” ou “Reprovado”</a:t>
            </a:r>
          </a:p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2. </a:t>
            </a:r>
            <a:r>
              <a:rPr lang="pt-BR" altLang="pt-BR" b="1" dirty="0"/>
              <a:t>Solução</a:t>
            </a:r>
            <a:r>
              <a:rPr lang="pt-BR" altLang="pt-BR" dirty="0"/>
              <a:t>:</a:t>
            </a:r>
          </a:p>
          <a:p>
            <a:pPr lvl="1" eaLnBrk="1" hangingPunct="1"/>
            <a:r>
              <a:rPr lang="pt-BR" altLang="pt-BR" sz="2000" dirty="0"/>
              <a:t>Obter as notas A e B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Somar as duas notas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Dividir a soma das notas por 2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Se média &gt;= 5</a:t>
            </a:r>
            <a:br>
              <a:rPr lang="pt-BR" altLang="pt-BR" sz="2000" dirty="0"/>
            </a:br>
            <a:r>
              <a:rPr lang="pt-BR" altLang="pt-BR" sz="2000" dirty="0"/>
              <a:t>	aluno “Aprovado”  </a:t>
            </a:r>
            <a:br>
              <a:rPr lang="pt-BR" altLang="pt-BR" sz="2000" dirty="0"/>
            </a:br>
            <a:r>
              <a:rPr lang="pt-BR" altLang="pt-BR" sz="2000" dirty="0"/>
              <a:t>Senão, </a:t>
            </a:r>
            <a:br>
              <a:rPr lang="pt-BR" altLang="pt-BR" sz="2000" dirty="0"/>
            </a:br>
            <a:r>
              <a:rPr lang="pt-BR" altLang="pt-BR" sz="2000" dirty="0"/>
              <a:t>	aluno “Reprovado”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Oval 3">
            <a:extLst>
              <a:ext uri="{FF2B5EF4-FFF2-40B4-BE49-F238E27FC236}">
                <a16:creationId xmlns:a16="http://schemas.microsoft.com/office/drawing/2014/main" id="{E70F82C3-910F-4430-B099-87E75B9BD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92150"/>
            <a:ext cx="2016125" cy="5762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b="1" dirty="0" err="1"/>
              <a:t>Início</a:t>
            </a:r>
            <a:endParaRPr lang="en-US" altLang="pt-BR" sz="1800" b="1" dirty="0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61DBFCB0-DEC2-492C-8747-EC81F325F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704" y="2781300"/>
            <a:ext cx="3456384" cy="79216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b="1" dirty="0" err="1"/>
              <a:t>Média</a:t>
            </a:r>
            <a:r>
              <a:rPr lang="en-US" altLang="pt-BR" sz="1800" b="1" dirty="0"/>
              <a:t> = (</a:t>
            </a:r>
            <a:r>
              <a:rPr lang="en-US" altLang="pt-BR" sz="1800" b="1" dirty="0" err="1"/>
              <a:t>nota_a</a:t>
            </a:r>
            <a:r>
              <a:rPr lang="en-US" altLang="pt-BR" sz="1800" b="1" dirty="0"/>
              <a:t> + </a:t>
            </a:r>
            <a:r>
              <a:rPr lang="en-US" altLang="pt-BR" sz="1800" b="1" dirty="0" err="1"/>
              <a:t>nota_b</a:t>
            </a:r>
            <a:r>
              <a:rPr lang="en-US" altLang="pt-BR" sz="1800" b="1" dirty="0"/>
              <a:t>) / 2</a:t>
            </a:r>
          </a:p>
        </p:txBody>
      </p:sp>
      <p:sp>
        <p:nvSpPr>
          <p:cNvPr id="29701" name="AutoShape 5">
            <a:extLst>
              <a:ext uri="{FF2B5EF4-FFF2-40B4-BE49-F238E27FC236}">
                <a16:creationId xmlns:a16="http://schemas.microsoft.com/office/drawing/2014/main" id="{298F0E26-E73C-4675-9113-132FD1A4A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3860800"/>
            <a:ext cx="2160588" cy="1079500"/>
          </a:xfrm>
          <a:prstGeom prst="diamond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b="1" dirty="0" err="1"/>
              <a:t>Média</a:t>
            </a:r>
            <a:r>
              <a:rPr lang="en-US" altLang="pt-BR" sz="1800" b="1" dirty="0"/>
              <a:t> &gt;= 5</a:t>
            </a:r>
          </a:p>
        </p:txBody>
      </p:sp>
      <p:sp>
        <p:nvSpPr>
          <p:cNvPr id="29702" name="Oval 9">
            <a:extLst>
              <a:ext uri="{FF2B5EF4-FFF2-40B4-BE49-F238E27FC236}">
                <a16:creationId xmlns:a16="http://schemas.microsoft.com/office/drawing/2014/main" id="{1AF2733A-B924-442E-A1D9-304AC24AE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949950"/>
            <a:ext cx="2016125" cy="5762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b="1" dirty="0" err="1"/>
              <a:t>Fim</a:t>
            </a:r>
            <a:endParaRPr lang="en-US" altLang="pt-BR" sz="1800" b="1" dirty="0"/>
          </a:p>
        </p:txBody>
      </p:sp>
      <p:sp>
        <p:nvSpPr>
          <p:cNvPr id="29703" name="Line 10">
            <a:extLst>
              <a:ext uri="{FF2B5EF4-FFF2-40B4-BE49-F238E27FC236}">
                <a16:creationId xmlns:a16="http://schemas.microsoft.com/office/drawing/2014/main" id="{3D587CEF-473B-4783-9A11-A25E56D4B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6813" y="1268413"/>
            <a:ext cx="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04" name="Line 11">
            <a:extLst>
              <a:ext uri="{FF2B5EF4-FFF2-40B4-BE49-F238E27FC236}">
                <a16:creationId xmlns:a16="http://schemas.microsoft.com/office/drawing/2014/main" id="{1370EBF2-252F-44C3-9C85-08E3D969E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2492375"/>
            <a:ext cx="0" cy="2889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05" name="Line 12">
            <a:extLst>
              <a:ext uri="{FF2B5EF4-FFF2-40B4-BE49-F238E27FC236}">
                <a16:creationId xmlns:a16="http://schemas.microsoft.com/office/drawing/2014/main" id="{4D8D523A-44E8-4A95-88EC-8B0536DA1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3573463"/>
            <a:ext cx="0" cy="2873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06" name="Line 13">
            <a:extLst>
              <a:ext uri="{FF2B5EF4-FFF2-40B4-BE49-F238E27FC236}">
                <a16:creationId xmlns:a16="http://schemas.microsoft.com/office/drawing/2014/main" id="{208AFE1F-7454-434C-9736-F1FD125782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3350" y="4437063"/>
            <a:ext cx="12239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07" name="Line 14">
            <a:extLst>
              <a:ext uri="{FF2B5EF4-FFF2-40B4-BE49-F238E27FC236}">
                <a16:creationId xmlns:a16="http://schemas.microsoft.com/office/drawing/2014/main" id="{C79DBB27-102C-47F5-93C1-D5CF8BDCF6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365625"/>
            <a:ext cx="11525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08" name="Line 15">
            <a:extLst>
              <a:ext uri="{FF2B5EF4-FFF2-40B4-BE49-F238E27FC236}">
                <a16:creationId xmlns:a16="http://schemas.microsoft.com/office/drawing/2014/main" id="{AB55252C-8A96-4996-AFA9-07CEE10E6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437063"/>
            <a:ext cx="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09" name="Line 16">
            <a:extLst>
              <a:ext uri="{FF2B5EF4-FFF2-40B4-BE49-F238E27FC236}">
                <a16:creationId xmlns:a16="http://schemas.microsoft.com/office/drawing/2014/main" id="{E6247A1B-9A1E-4618-8F92-3541395AA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425" y="4365625"/>
            <a:ext cx="0" cy="3587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10" name="Line 17">
            <a:extLst>
              <a:ext uri="{FF2B5EF4-FFF2-40B4-BE49-F238E27FC236}">
                <a16:creationId xmlns:a16="http://schemas.microsoft.com/office/drawing/2014/main" id="{7789BD00-6D63-4A29-9A6C-C62907935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5300663"/>
            <a:ext cx="0" cy="7207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11" name="Line 18">
            <a:extLst>
              <a:ext uri="{FF2B5EF4-FFF2-40B4-BE49-F238E27FC236}">
                <a16:creationId xmlns:a16="http://schemas.microsoft.com/office/drawing/2014/main" id="{00C21394-B7E2-408E-AE92-DA3312E73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5445125"/>
            <a:ext cx="0" cy="5048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12" name="Line 19">
            <a:extLst>
              <a:ext uri="{FF2B5EF4-FFF2-40B4-BE49-F238E27FC236}">
                <a16:creationId xmlns:a16="http://schemas.microsoft.com/office/drawing/2014/main" id="{4BC25ABC-E2A0-44E2-A49D-D3EB3B073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6021388"/>
            <a:ext cx="14398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13" name="Line 20">
            <a:extLst>
              <a:ext uri="{FF2B5EF4-FFF2-40B4-BE49-F238E27FC236}">
                <a16:creationId xmlns:a16="http://schemas.microsoft.com/office/drawing/2014/main" id="{1A35BA98-173C-4368-BF2D-9C8B035679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3800" y="5949950"/>
            <a:ext cx="10080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14" name="Text Box 21">
            <a:extLst>
              <a:ext uri="{FF2B5EF4-FFF2-40B4-BE49-F238E27FC236}">
                <a16:creationId xmlns:a16="http://schemas.microsoft.com/office/drawing/2014/main" id="{7F723573-A9D6-4F59-86CF-1998938EF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075" y="3952875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dirty="0"/>
              <a:t>V</a:t>
            </a:r>
          </a:p>
        </p:txBody>
      </p:sp>
      <p:sp>
        <p:nvSpPr>
          <p:cNvPr id="29715" name="Text Box 22">
            <a:extLst>
              <a:ext uri="{FF2B5EF4-FFF2-40B4-BE49-F238E27FC236}">
                <a16:creationId xmlns:a16="http://schemas.microsoft.com/office/drawing/2014/main" id="{F977C132-9E95-4864-A45D-639A73A88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933825"/>
            <a:ext cx="3257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dirty="0"/>
              <a:t>F</a:t>
            </a:r>
          </a:p>
        </p:txBody>
      </p:sp>
      <p:sp>
        <p:nvSpPr>
          <p:cNvPr id="29716" name="Line 23">
            <a:extLst>
              <a:ext uri="{FF2B5EF4-FFF2-40B4-BE49-F238E27FC236}">
                <a16:creationId xmlns:a16="http://schemas.microsoft.com/office/drawing/2014/main" id="{068314AE-4BDD-4133-81E0-D5CF5DDBBC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4875" y="981075"/>
            <a:ext cx="237807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17" name="Rectangle 24">
            <a:extLst>
              <a:ext uri="{FF2B5EF4-FFF2-40B4-BE49-F238E27FC236}">
                <a16:creationId xmlns:a16="http://schemas.microsoft.com/office/drawing/2014/main" id="{9BE22B1F-FF65-4AF8-8237-DDE5BAE78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7" y="765175"/>
            <a:ext cx="1944683" cy="863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Símbolo para identificar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o início e fim</a:t>
            </a:r>
          </a:p>
        </p:txBody>
      </p:sp>
      <p:sp>
        <p:nvSpPr>
          <p:cNvPr id="29718" name="Rectangle 25">
            <a:extLst>
              <a:ext uri="{FF2B5EF4-FFF2-40B4-BE49-F238E27FC236}">
                <a16:creationId xmlns:a16="http://schemas.microsoft.com/office/drawing/2014/main" id="{CD95C141-D059-49FC-B7AA-9D948757D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5994400"/>
            <a:ext cx="2016110" cy="863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Símbolo para identificar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400" dirty="0"/>
              <a:t>o início e fim</a:t>
            </a:r>
          </a:p>
        </p:txBody>
      </p:sp>
      <p:sp>
        <p:nvSpPr>
          <p:cNvPr id="29719" name="Line 28">
            <a:extLst>
              <a:ext uri="{FF2B5EF4-FFF2-40B4-BE49-F238E27FC236}">
                <a16:creationId xmlns:a16="http://schemas.microsoft.com/office/drawing/2014/main" id="{93209947-145C-4499-8CFF-84E2D5A61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6308725"/>
            <a:ext cx="21605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20" name="Rectangle 29">
            <a:extLst>
              <a:ext uri="{FF2B5EF4-FFF2-40B4-BE49-F238E27FC236}">
                <a16:creationId xmlns:a16="http://schemas.microsoft.com/office/drawing/2014/main" id="{D84A1324-2FD6-47DC-B2EE-E9CFE21F4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1844675"/>
            <a:ext cx="1692276" cy="863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 dirty="0"/>
              <a:t>Entrada de dados</a:t>
            </a:r>
          </a:p>
        </p:txBody>
      </p:sp>
      <p:sp>
        <p:nvSpPr>
          <p:cNvPr id="29721" name="Line 31">
            <a:extLst>
              <a:ext uri="{FF2B5EF4-FFF2-40B4-BE49-F238E27FC236}">
                <a16:creationId xmlns:a16="http://schemas.microsoft.com/office/drawing/2014/main" id="{8D0DE687-AA3F-4CB2-949C-EAEAA4F75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989138"/>
            <a:ext cx="237807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22" name="AutoShape 32">
            <a:extLst>
              <a:ext uri="{FF2B5EF4-FFF2-40B4-BE49-F238E27FC236}">
                <a16:creationId xmlns:a16="http://schemas.microsoft.com/office/drawing/2014/main" id="{A0900CCD-6DEE-4E3B-B660-1B3A50908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484313"/>
            <a:ext cx="2087562" cy="1081087"/>
          </a:xfrm>
          <a:prstGeom prst="flowChartInputOutpu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b="1" dirty="0" err="1"/>
              <a:t>nota_a</a:t>
            </a:r>
            <a:r>
              <a:rPr lang="en-US" altLang="pt-BR" sz="1800" b="1" dirty="0"/>
              <a:t>, </a:t>
            </a:r>
            <a:r>
              <a:rPr lang="en-US" altLang="pt-BR" sz="1800" b="1" dirty="0" err="1"/>
              <a:t>nota_b</a:t>
            </a:r>
            <a:endParaRPr lang="en-US" altLang="pt-BR" sz="1800" b="1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 dirty="0"/>
          </a:p>
        </p:txBody>
      </p:sp>
      <p:sp>
        <p:nvSpPr>
          <p:cNvPr id="29723" name="Rectangle 33">
            <a:extLst>
              <a:ext uri="{FF2B5EF4-FFF2-40B4-BE49-F238E27FC236}">
                <a16:creationId xmlns:a16="http://schemas.microsoft.com/office/drawing/2014/main" id="{B0523E3C-23BE-4479-B5A1-E63D2E337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924175"/>
            <a:ext cx="1763713" cy="863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/>
              <a:t>Processamento</a:t>
            </a:r>
          </a:p>
        </p:txBody>
      </p:sp>
      <p:sp>
        <p:nvSpPr>
          <p:cNvPr id="29724" name="Rectangle 34">
            <a:extLst>
              <a:ext uri="{FF2B5EF4-FFF2-40B4-BE49-F238E27FC236}">
                <a16:creationId xmlns:a16="http://schemas.microsoft.com/office/drawing/2014/main" id="{FE1817FD-793B-4C3D-8637-FD990C27B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3933825"/>
            <a:ext cx="1763713" cy="863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/>
              <a:t>Decisão</a:t>
            </a:r>
          </a:p>
        </p:txBody>
      </p:sp>
      <p:sp>
        <p:nvSpPr>
          <p:cNvPr id="29725" name="Rectangle 35">
            <a:extLst>
              <a:ext uri="{FF2B5EF4-FFF2-40B4-BE49-F238E27FC236}">
                <a16:creationId xmlns:a16="http://schemas.microsoft.com/office/drawing/2014/main" id="{C4D3F006-5BEE-46F2-8E0B-EEE1D1B73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941888"/>
            <a:ext cx="1763713" cy="863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400"/>
              <a:t>Impressão</a:t>
            </a:r>
          </a:p>
        </p:txBody>
      </p:sp>
      <p:sp>
        <p:nvSpPr>
          <p:cNvPr id="29726" name="AutoShape 36">
            <a:extLst>
              <a:ext uri="{FF2B5EF4-FFF2-40B4-BE49-F238E27FC236}">
                <a16:creationId xmlns:a16="http://schemas.microsoft.com/office/drawing/2014/main" id="{D00EC58E-6FF1-4274-B1E3-8591D09AE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652963"/>
            <a:ext cx="1368425" cy="1079500"/>
          </a:xfrm>
          <a:prstGeom prst="flowChartDocumen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b="1" dirty="0"/>
              <a:t>“APROVADO”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 b="1" dirty="0"/>
          </a:p>
        </p:txBody>
      </p:sp>
      <p:sp>
        <p:nvSpPr>
          <p:cNvPr id="29727" name="AutoShape 37">
            <a:extLst>
              <a:ext uri="{FF2B5EF4-FFF2-40B4-BE49-F238E27FC236}">
                <a16:creationId xmlns:a16="http://schemas.microsoft.com/office/drawing/2014/main" id="{52B4FF0D-C321-4EC9-ABAC-5A650217E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652963"/>
            <a:ext cx="1511300" cy="1150937"/>
          </a:xfrm>
          <a:prstGeom prst="flowChartDocumen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b="1" dirty="0"/>
              <a:t>“REPROVADO”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 b="1" dirty="0"/>
          </a:p>
        </p:txBody>
      </p:sp>
      <p:sp>
        <p:nvSpPr>
          <p:cNvPr id="29728" name="Line 38">
            <a:extLst>
              <a:ext uri="{FF2B5EF4-FFF2-40B4-BE49-F238E27FC236}">
                <a16:creationId xmlns:a16="http://schemas.microsoft.com/office/drawing/2014/main" id="{BA806929-BF81-40C4-84C6-046E3A489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3213100"/>
            <a:ext cx="18002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29" name="Line 39">
            <a:extLst>
              <a:ext uri="{FF2B5EF4-FFF2-40B4-BE49-F238E27FC236}">
                <a16:creationId xmlns:a16="http://schemas.microsoft.com/office/drawing/2014/main" id="{ECAD90E5-9369-4C5D-9BB9-A6EB413D9F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4149725"/>
            <a:ext cx="25193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730" name="Line 40">
            <a:extLst>
              <a:ext uri="{FF2B5EF4-FFF2-40B4-BE49-F238E27FC236}">
                <a16:creationId xmlns:a16="http://schemas.microsoft.com/office/drawing/2014/main" id="{2F924CCB-C668-4E6B-9B9D-9B8E2397F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5925" y="5229225"/>
            <a:ext cx="3270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" name="Text Box 36">
            <a:extLst>
              <a:ext uri="{FF2B5EF4-FFF2-40B4-BE49-F238E27FC236}">
                <a16:creationId xmlns:a16="http://schemas.microsoft.com/office/drawing/2014/main" id="{9756031A-54A2-457A-8BBD-629BB8ADF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97468"/>
            <a:ext cx="24849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dirty="0"/>
              <a:t>2. Fluxograma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6EB3AF84-429B-4986-80DA-7680CAABB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4624"/>
            <a:ext cx="7772400" cy="640112"/>
          </a:xfrm>
        </p:spPr>
        <p:txBody>
          <a:bodyPr/>
          <a:lstStyle/>
          <a:p>
            <a:pPr eaLnBrk="1" hangingPunct="1"/>
            <a:r>
              <a:rPr lang="pt-BR" altLang="pt-BR" b="1" dirty="0"/>
              <a:t>3. Notação em pseudocódigo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6724AB2-592D-4B46-99B0-2CDF7D811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1640" y="764704"/>
            <a:ext cx="5760640" cy="604867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Char char="-"/>
            </a:pPr>
            <a:r>
              <a:rPr lang="pt-BR" altLang="pt-BR" sz="2000" dirty="0"/>
              <a:t>Algoritmo "teste“</a:t>
            </a:r>
          </a:p>
          <a:p>
            <a:pPr eaLnBrk="1" hangingPunct="1">
              <a:lnSpc>
                <a:spcPct val="80000"/>
              </a:lnSpc>
              <a:buFontTx/>
              <a:buChar char="-"/>
            </a:pPr>
            <a:endParaRPr lang="pt-BR" altLang="pt-BR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var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dirty="0"/>
              <a:t>	</a:t>
            </a:r>
            <a:r>
              <a:rPr lang="pt-BR" altLang="pt-BR" dirty="0" err="1"/>
              <a:t>n</a:t>
            </a:r>
            <a:r>
              <a:rPr lang="pt-BR" altLang="pt-BR" sz="2000" dirty="0" err="1"/>
              <a:t>ota_a</a:t>
            </a:r>
            <a:r>
              <a:rPr lang="pt-BR" altLang="pt-BR" sz="2000" dirty="0"/>
              <a:t>, </a:t>
            </a:r>
            <a:r>
              <a:rPr lang="pt-BR" altLang="pt-BR" sz="2000" dirty="0" err="1"/>
              <a:t>nota_b</a:t>
            </a:r>
            <a:r>
              <a:rPr lang="pt-BR" altLang="pt-BR" sz="2000" dirty="0"/>
              <a:t>: real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	media: real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Inicio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escreva (“Digite a primeira nota: “)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</a:t>
            </a:r>
            <a:r>
              <a:rPr lang="pt-BR" altLang="pt-BR" dirty="0"/>
              <a:t>l</a:t>
            </a:r>
            <a:r>
              <a:rPr lang="pt-BR" altLang="pt-BR" sz="2000" dirty="0"/>
              <a:t>eia (</a:t>
            </a:r>
            <a:r>
              <a:rPr lang="pt-BR" altLang="pt-BR" sz="2000" dirty="0" err="1"/>
              <a:t>nota_a</a:t>
            </a:r>
            <a:r>
              <a:rPr lang="pt-BR" altLang="pt-BR" sz="2000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escreva (“Digite a segunda nota: “)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</a:t>
            </a:r>
            <a:r>
              <a:rPr lang="pt-BR" altLang="pt-BR" dirty="0"/>
              <a:t>l</a:t>
            </a:r>
            <a:r>
              <a:rPr lang="pt-BR" altLang="pt-BR" sz="2000" dirty="0"/>
              <a:t>eia (</a:t>
            </a:r>
            <a:r>
              <a:rPr lang="pt-BR" altLang="pt-BR" sz="2000" dirty="0" err="1"/>
              <a:t>nota_b</a:t>
            </a:r>
            <a:r>
              <a:rPr lang="pt-BR" altLang="pt-BR" sz="2000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media &lt;- (</a:t>
            </a:r>
            <a:r>
              <a:rPr lang="pt-BR" altLang="pt-BR" sz="2000" dirty="0" err="1"/>
              <a:t>nota_a</a:t>
            </a:r>
            <a:r>
              <a:rPr lang="pt-BR" altLang="pt-BR" sz="2000" dirty="0"/>
              <a:t> + </a:t>
            </a:r>
            <a:r>
              <a:rPr lang="pt-BR" altLang="pt-BR" sz="2000" dirty="0" err="1"/>
              <a:t>nota_b</a:t>
            </a:r>
            <a:r>
              <a:rPr lang="pt-BR" altLang="pt-BR" sz="2000" dirty="0"/>
              <a:t>) / 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se media &gt;= 5 </a:t>
            </a:r>
            <a:r>
              <a:rPr lang="pt-BR" altLang="pt-BR" sz="2000" dirty="0" err="1"/>
              <a:t>entao</a:t>
            </a:r>
            <a:endParaRPr lang="pt-BR" altLang="pt-BR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        escreva ("Aprovado")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</a:t>
            </a:r>
            <a:r>
              <a:rPr lang="pt-BR" altLang="pt-BR" sz="2000" dirty="0" err="1"/>
              <a:t>senao</a:t>
            </a:r>
            <a:endParaRPr lang="pt-BR" altLang="pt-BR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         escreva ("Reprovado")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  </a:t>
            </a:r>
            <a:r>
              <a:rPr lang="pt-BR" altLang="pt-BR" sz="2000" dirty="0" err="1"/>
              <a:t>fimse</a:t>
            </a:r>
            <a:endParaRPr lang="pt-BR" altLang="pt-BR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 err="1"/>
              <a:t>Fimalgoritmo</a:t>
            </a:r>
            <a:endParaRPr lang="pt-BR" altLang="pt-BR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2AB592B6-7F2F-4B13-873B-AA1647535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648072"/>
          </a:xfrm>
        </p:spPr>
        <p:txBody>
          <a:bodyPr>
            <a:noAutofit/>
          </a:bodyPr>
          <a:lstStyle/>
          <a:p>
            <a:pPr eaLnBrk="1" hangingPunct="1"/>
            <a:r>
              <a:rPr lang="pt-BR" altLang="pt-BR" dirty="0"/>
              <a:t>Exercício 3.4 - Represente utilizando fluxograma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EF362ED-FC0D-4DCA-81A8-9BF2E9A12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5616" y="1196752"/>
            <a:ext cx="7342584" cy="4831432"/>
          </a:xfrm>
        </p:spPr>
        <p:txBody>
          <a:bodyPr>
            <a:normAutofit/>
          </a:bodyPr>
          <a:lstStyle/>
          <a:p>
            <a:pPr lvl="1" eaLnBrk="1" hangingPunct="1"/>
            <a:r>
              <a:rPr lang="pt-BR" altLang="pt-BR" sz="2000" dirty="0"/>
              <a:t>- Algoritmo: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Receba o código da peça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Receba o valor da peça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Receba quantidade de peças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Calcule o valor total da peça </a:t>
            </a:r>
            <a:br>
              <a:rPr lang="pt-BR" altLang="pt-BR" sz="2000" dirty="0"/>
            </a:br>
            <a:r>
              <a:rPr lang="pt-BR" altLang="pt-BR" sz="2000" dirty="0"/>
              <a:t>(valor da peça X quantidade de peça)</a:t>
            </a:r>
          </a:p>
          <a:p>
            <a:pPr lvl="1" eaLnBrk="1" hangingPunct="1"/>
            <a:endParaRPr lang="pt-BR" altLang="pt-BR" sz="2000" dirty="0"/>
          </a:p>
          <a:p>
            <a:pPr lvl="1" eaLnBrk="1" hangingPunct="1"/>
            <a:r>
              <a:rPr lang="pt-BR" altLang="pt-BR" sz="2000" dirty="0"/>
              <a:t>Mostre o código da peça e seu valor total</a:t>
            </a:r>
          </a:p>
          <a:p>
            <a:pPr eaLnBrk="1" hangingPunct="1"/>
            <a:endParaRPr lang="pt-BR" altLang="pt-B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Oval 4">
            <a:extLst>
              <a:ext uri="{FF2B5EF4-FFF2-40B4-BE49-F238E27FC236}">
                <a16:creationId xmlns:a16="http://schemas.microsoft.com/office/drawing/2014/main" id="{7D4C4742-CC29-470F-AD2E-1501BE043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92150"/>
            <a:ext cx="2016125" cy="5762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Início</a:t>
            </a:r>
          </a:p>
        </p:txBody>
      </p:sp>
      <p:sp>
        <p:nvSpPr>
          <p:cNvPr id="35844" name="Rectangle 5">
            <a:extLst>
              <a:ext uri="{FF2B5EF4-FFF2-40B4-BE49-F238E27FC236}">
                <a16:creationId xmlns:a16="http://schemas.microsoft.com/office/drawing/2014/main" id="{E12EE2CB-7ED7-4B44-A596-E187A146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801938"/>
            <a:ext cx="5184775" cy="792162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dirty="0"/>
              <a:t>Valor total da </a:t>
            </a:r>
            <a:r>
              <a:rPr lang="en-US" altLang="pt-BR" sz="1800" dirty="0" err="1"/>
              <a:t>peça</a:t>
            </a:r>
            <a:r>
              <a:rPr lang="en-US" altLang="pt-BR" sz="1800" dirty="0"/>
              <a:t>= (valor </a:t>
            </a:r>
            <a:r>
              <a:rPr lang="en-US" altLang="pt-BR" sz="1800" dirty="0" err="1"/>
              <a:t>peça</a:t>
            </a:r>
            <a:r>
              <a:rPr lang="en-US" altLang="pt-BR" sz="1800" dirty="0"/>
              <a:t> x quant </a:t>
            </a:r>
            <a:r>
              <a:rPr lang="en-US" altLang="pt-BR" sz="1800" dirty="0" err="1"/>
              <a:t>pecas</a:t>
            </a:r>
            <a:r>
              <a:rPr lang="en-US" altLang="pt-BR" sz="1800" dirty="0"/>
              <a:t>)</a:t>
            </a:r>
          </a:p>
        </p:txBody>
      </p:sp>
      <p:sp>
        <p:nvSpPr>
          <p:cNvPr id="35845" name="Oval 7">
            <a:extLst>
              <a:ext uri="{FF2B5EF4-FFF2-40B4-BE49-F238E27FC236}">
                <a16:creationId xmlns:a16="http://schemas.microsoft.com/office/drawing/2014/main" id="{8975B74D-27BC-4FC0-9288-59E4DBBE8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949950"/>
            <a:ext cx="2016125" cy="5762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Fim</a:t>
            </a:r>
          </a:p>
        </p:txBody>
      </p:sp>
      <p:sp>
        <p:nvSpPr>
          <p:cNvPr id="35846" name="Line 8">
            <a:extLst>
              <a:ext uri="{FF2B5EF4-FFF2-40B4-BE49-F238E27FC236}">
                <a16:creationId xmlns:a16="http://schemas.microsoft.com/office/drawing/2014/main" id="{87E95102-FC0C-465F-BD71-F00C8AD8B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6813" y="1268413"/>
            <a:ext cx="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847" name="Line 9">
            <a:extLst>
              <a:ext uri="{FF2B5EF4-FFF2-40B4-BE49-F238E27FC236}">
                <a16:creationId xmlns:a16="http://schemas.microsoft.com/office/drawing/2014/main" id="{4A3A48B8-40B7-4AE6-BECC-B80F9D5E8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2492375"/>
            <a:ext cx="0" cy="2889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848" name="Line 10">
            <a:extLst>
              <a:ext uri="{FF2B5EF4-FFF2-40B4-BE49-F238E27FC236}">
                <a16:creationId xmlns:a16="http://schemas.microsoft.com/office/drawing/2014/main" id="{859445A6-76FF-43A4-85B9-3E4D82FD1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3573463"/>
            <a:ext cx="0" cy="2873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849" name="AutoShape 27">
            <a:extLst>
              <a:ext uri="{FF2B5EF4-FFF2-40B4-BE49-F238E27FC236}">
                <a16:creationId xmlns:a16="http://schemas.microsoft.com/office/drawing/2014/main" id="{BBFA4CE4-7EBA-4B62-854F-848C9D173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484313"/>
            <a:ext cx="2087562" cy="1081087"/>
          </a:xfrm>
          <a:prstGeom prst="flowChartInputOutpu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Codigo peça,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 valor peça,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Quant peças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/>
          </a:p>
        </p:txBody>
      </p:sp>
      <p:sp>
        <p:nvSpPr>
          <p:cNvPr id="35850" name="AutoShape 31">
            <a:extLst>
              <a:ext uri="{FF2B5EF4-FFF2-40B4-BE49-F238E27FC236}">
                <a16:creationId xmlns:a16="http://schemas.microsoft.com/office/drawing/2014/main" id="{F79C42A2-A40E-432F-B2B2-D930B5CA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3998913"/>
            <a:ext cx="1368425" cy="1150937"/>
          </a:xfrm>
          <a:prstGeom prst="flowChartDocumen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Valor total da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peca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/>
          </a:p>
        </p:txBody>
      </p:sp>
      <p:sp>
        <p:nvSpPr>
          <p:cNvPr id="35851" name="Text Box 36">
            <a:extLst>
              <a:ext uri="{FF2B5EF4-FFF2-40B4-BE49-F238E27FC236}">
                <a16:creationId xmlns:a16="http://schemas.microsoft.com/office/drawing/2014/main" id="{4E2460E8-F8C3-4A9F-A149-77B66D2E8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267" y="260648"/>
            <a:ext cx="23471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dirty="0"/>
              <a:t>Fluxograma</a:t>
            </a:r>
          </a:p>
        </p:txBody>
      </p:sp>
      <p:sp>
        <p:nvSpPr>
          <p:cNvPr id="35853" name="Line 10">
            <a:extLst>
              <a:ext uri="{FF2B5EF4-FFF2-40B4-BE49-F238E27FC236}">
                <a16:creationId xmlns:a16="http://schemas.microsoft.com/office/drawing/2014/main" id="{4AA0F945-B247-45CC-8D13-3BD7E73EBF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838" y="5149850"/>
            <a:ext cx="23812" cy="8001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380C7D5C-F3D9-4358-B3D2-E2EF7D859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640112"/>
          </a:xfrm>
        </p:spPr>
        <p:txBody>
          <a:bodyPr/>
          <a:lstStyle/>
          <a:p>
            <a:pPr eaLnBrk="1" hangingPunct="1"/>
            <a:r>
              <a:rPr lang="pt-BR" altLang="pt-BR" dirty="0"/>
              <a:t>Exercício 3.5 - Represente utilizando fluxograma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C33A26F-C309-439D-9D84-84052822F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40768"/>
            <a:ext cx="7772400" cy="4831432"/>
          </a:xfrm>
        </p:spPr>
        <p:txBody>
          <a:bodyPr/>
          <a:lstStyle/>
          <a:p>
            <a:pPr eaLnBrk="1" hangingPunct="1"/>
            <a:r>
              <a:rPr lang="pt-BR" altLang="pt-BR" dirty="0"/>
              <a:t>Receba P1</a:t>
            </a:r>
          </a:p>
          <a:p>
            <a:pPr eaLnBrk="1" hangingPunct="1"/>
            <a:r>
              <a:rPr lang="pt-BR" altLang="pt-BR" dirty="0"/>
              <a:t>Receba P2</a:t>
            </a:r>
          </a:p>
          <a:p>
            <a:pPr eaLnBrk="1" hangingPunct="1"/>
            <a:r>
              <a:rPr lang="pt-BR" altLang="pt-BR" dirty="0"/>
              <a:t>Receba P3</a:t>
            </a:r>
          </a:p>
          <a:p>
            <a:pPr eaLnBrk="1" hangingPunct="1"/>
            <a:r>
              <a:rPr lang="pt-BR" altLang="pt-BR" dirty="0"/>
              <a:t>Receba P4</a:t>
            </a:r>
          </a:p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Some todas as notas e divida o resultado por 4</a:t>
            </a:r>
          </a:p>
          <a:p>
            <a:pPr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Mostre o resultado da divisão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Oval 4">
            <a:extLst>
              <a:ext uri="{FF2B5EF4-FFF2-40B4-BE49-F238E27FC236}">
                <a16:creationId xmlns:a16="http://schemas.microsoft.com/office/drawing/2014/main" id="{32C40AE6-2DF3-4F18-841E-EC0934EAB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92150"/>
            <a:ext cx="2016125" cy="5762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Início</a:t>
            </a:r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ED481BDD-480B-43A9-B023-89570E9FB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801938"/>
            <a:ext cx="5184775" cy="792162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dirty="0"/>
              <a:t>Media= (P1+P2+P3+P4) / 4</a:t>
            </a:r>
          </a:p>
        </p:txBody>
      </p:sp>
      <p:sp>
        <p:nvSpPr>
          <p:cNvPr id="37893" name="Oval 7">
            <a:extLst>
              <a:ext uri="{FF2B5EF4-FFF2-40B4-BE49-F238E27FC236}">
                <a16:creationId xmlns:a16="http://schemas.microsoft.com/office/drawing/2014/main" id="{6E388A57-1686-4A48-AC88-E0D72AC25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949950"/>
            <a:ext cx="2016125" cy="5762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Fim</a:t>
            </a:r>
          </a:p>
        </p:txBody>
      </p:sp>
      <p:sp>
        <p:nvSpPr>
          <p:cNvPr id="37894" name="Line 8">
            <a:extLst>
              <a:ext uri="{FF2B5EF4-FFF2-40B4-BE49-F238E27FC236}">
                <a16:creationId xmlns:a16="http://schemas.microsoft.com/office/drawing/2014/main" id="{A184889B-B9B9-4322-AC15-5505F735E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6813" y="1268413"/>
            <a:ext cx="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7895" name="Line 9">
            <a:extLst>
              <a:ext uri="{FF2B5EF4-FFF2-40B4-BE49-F238E27FC236}">
                <a16:creationId xmlns:a16="http://schemas.microsoft.com/office/drawing/2014/main" id="{D30A317A-6DB1-410B-AF53-7FFCD74EB1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2492375"/>
            <a:ext cx="0" cy="2889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7896" name="Line 10">
            <a:extLst>
              <a:ext uri="{FF2B5EF4-FFF2-40B4-BE49-F238E27FC236}">
                <a16:creationId xmlns:a16="http://schemas.microsoft.com/office/drawing/2014/main" id="{D7A7B6CC-F75E-42DC-808F-91446EEE3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3573463"/>
            <a:ext cx="0" cy="2873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7897" name="AutoShape 27">
            <a:extLst>
              <a:ext uri="{FF2B5EF4-FFF2-40B4-BE49-F238E27FC236}">
                <a16:creationId xmlns:a16="http://schemas.microsoft.com/office/drawing/2014/main" id="{F5C6546A-6FF0-4E1C-9D8D-5807F0F20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484313"/>
            <a:ext cx="2087562" cy="1081087"/>
          </a:xfrm>
          <a:prstGeom prst="flowChartInputOutpu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P1,P2,P3,P4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/>
          </a:p>
        </p:txBody>
      </p:sp>
      <p:sp>
        <p:nvSpPr>
          <p:cNvPr id="37898" name="AutoShape 31">
            <a:extLst>
              <a:ext uri="{FF2B5EF4-FFF2-40B4-BE49-F238E27FC236}">
                <a16:creationId xmlns:a16="http://schemas.microsoft.com/office/drawing/2014/main" id="{79422CCF-EB13-497D-8BFC-489D7BAF4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3998913"/>
            <a:ext cx="1368425" cy="1150937"/>
          </a:xfrm>
          <a:prstGeom prst="flowChartDocumen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media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/>
          </a:p>
        </p:txBody>
      </p:sp>
      <p:sp>
        <p:nvSpPr>
          <p:cNvPr id="37899" name="Text Box 36">
            <a:extLst>
              <a:ext uri="{FF2B5EF4-FFF2-40B4-BE49-F238E27FC236}">
                <a16:creationId xmlns:a16="http://schemas.microsoft.com/office/drawing/2014/main" id="{4F6FB0A4-8A75-4B1D-B522-6FC6D9EA7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43" y="260648"/>
            <a:ext cx="23471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dirty="0"/>
              <a:t>Fluxograma</a:t>
            </a:r>
          </a:p>
        </p:txBody>
      </p:sp>
      <p:sp>
        <p:nvSpPr>
          <p:cNvPr id="37901" name="Line 10">
            <a:extLst>
              <a:ext uri="{FF2B5EF4-FFF2-40B4-BE49-F238E27FC236}">
                <a16:creationId xmlns:a16="http://schemas.microsoft.com/office/drawing/2014/main" id="{A588BBE5-BBB1-4C04-8F54-8451C0E58B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838" y="5149850"/>
            <a:ext cx="23812" cy="8001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FF1DF28B-2733-4C94-9875-C96686000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pt-BR" alt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Faca um algoritmo para receber dois números e somar os dois números. </a:t>
            </a:r>
            <a:b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Multiplique o resultado da soma pelo primeiro número e exiba o resultado da multiplicação em tela.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A705DE-535A-461A-BCF4-5A89627FD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640112"/>
          </a:xfrm>
        </p:spPr>
        <p:txBody>
          <a:bodyPr/>
          <a:lstStyle/>
          <a:p>
            <a:pPr eaLnBrk="1" hangingPunct="1"/>
            <a:r>
              <a:rPr lang="pt-BR" altLang="pt-BR" dirty="0"/>
              <a:t>Exercício 3.6 - Represente utilizando fluxograma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Oval 4">
            <a:extLst>
              <a:ext uri="{FF2B5EF4-FFF2-40B4-BE49-F238E27FC236}">
                <a16:creationId xmlns:a16="http://schemas.microsoft.com/office/drawing/2014/main" id="{5CFE482D-A0DC-4ED2-BDEA-A695BEAC2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92150"/>
            <a:ext cx="2016125" cy="5762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Início</a:t>
            </a:r>
          </a:p>
        </p:txBody>
      </p:sp>
      <p:sp>
        <p:nvSpPr>
          <p:cNvPr id="39940" name="Rectangle 5">
            <a:extLst>
              <a:ext uri="{FF2B5EF4-FFF2-40B4-BE49-F238E27FC236}">
                <a16:creationId xmlns:a16="http://schemas.microsoft.com/office/drawing/2014/main" id="{8046A4AF-F6ED-4C9D-B92F-FA60EA95F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801938"/>
            <a:ext cx="5184775" cy="792162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 dirty="0"/>
              <a:t>SOMA= Num1+Num2</a:t>
            </a:r>
          </a:p>
        </p:txBody>
      </p:sp>
      <p:sp>
        <p:nvSpPr>
          <p:cNvPr id="39941" name="Oval 7">
            <a:extLst>
              <a:ext uri="{FF2B5EF4-FFF2-40B4-BE49-F238E27FC236}">
                <a16:creationId xmlns:a16="http://schemas.microsoft.com/office/drawing/2014/main" id="{D5E7C567-73AE-4EB9-81C9-AE7722EFD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949950"/>
            <a:ext cx="2016125" cy="5762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Fim</a:t>
            </a:r>
          </a:p>
        </p:txBody>
      </p:sp>
      <p:sp>
        <p:nvSpPr>
          <p:cNvPr id="39942" name="Line 8">
            <a:extLst>
              <a:ext uri="{FF2B5EF4-FFF2-40B4-BE49-F238E27FC236}">
                <a16:creationId xmlns:a16="http://schemas.microsoft.com/office/drawing/2014/main" id="{D3362003-F5A4-4231-BC3C-4F55461A9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6813" y="1268413"/>
            <a:ext cx="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9943" name="Line 9">
            <a:extLst>
              <a:ext uri="{FF2B5EF4-FFF2-40B4-BE49-F238E27FC236}">
                <a16:creationId xmlns:a16="http://schemas.microsoft.com/office/drawing/2014/main" id="{050322F7-30F8-4E13-9E91-3AD3250EE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2492375"/>
            <a:ext cx="0" cy="2889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9944" name="Line 10">
            <a:extLst>
              <a:ext uri="{FF2B5EF4-FFF2-40B4-BE49-F238E27FC236}">
                <a16:creationId xmlns:a16="http://schemas.microsoft.com/office/drawing/2014/main" id="{EBFE03FF-7B9A-4CFF-AE54-86365E352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3573463"/>
            <a:ext cx="0" cy="2873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9945" name="AutoShape 27">
            <a:extLst>
              <a:ext uri="{FF2B5EF4-FFF2-40B4-BE49-F238E27FC236}">
                <a16:creationId xmlns:a16="http://schemas.microsoft.com/office/drawing/2014/main" id="{E41E142E-9069-4F04-A76B-DB70A664F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484313"/>
            <a:ext cx="2087562" cy="1081087"/>
          </a:xfrm>
          <a:prstGeom prst="flowChartInputOutpu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Num1, Num2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pt-BR" sz="1800"/>
          </a:p>
        </p:txBody>
      </p:sp>
      <p:sp>
        <p:nvSpPr>
          <p:cNvPr id="39946" name="AutoShape 31">
            <a:extLst>
              <a:ext uri="{FF2B5EF4-FFF2-40B4-BE49-F238E27FC236}">
                <a16:creationId xmlns:a16="http://schemas.microsoft.com/office/drawing/2014/main" id="{7A8EBC63-2883-4F65-8293-69DD845F4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973638"/>
            <a:ext cx="1582737" cy="749300"/>
          </a:xfrm>
          <a:prstGeom prst="flowChartDocumen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RESULTADO</a:t>
            </a:r>
          </a:p>
        </p:txBody>
      </p:sp>
      <p:sp>
        <p:nvSpPr>
          <p:cNvPr id="39947" name="Text Box 36">
            <a:extLst>
              <a:ext uri="{FF2B5EF4-FFF2-40B4-BE49-F238E27FC236}">
                <a16:creationId xmlns:a16="http://schemas.microsoft.com/office/drawing/2014/main" id="{4A738225-794B-4F1E-BA30-81B1F82E1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267" y="260648"/>
            <a:ext cx="23471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dirty="0"/>
              <a:t>Fluxograma</a:t>
            </a:r>
          </a:p>
        </p:txBody>
      </p:sp>
      <p:sp>
        <p:nvSpPr>
          <p:cNvPr id="39949" name="Line 10">
            <a:extLst>
              <a:ext uri="{FF2B5EF4-FFF2-40B4-BE49-F238E27FC236}">
                <a16:creationId xmlns:a16="http://schemas.microsoft.com/office/drawing/2014/main" id="{AE1AB1EB-3F76-4E41-9A76-1DE2C7EC2A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838" y="5722938"/>
            <a:ext cx="0" cy="2270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9950" name="Rectangle 5">
            <a:extLst>
              <a:ext uri="{FF2B5EF4-FFF2-40B4-BE49-F238E27FC236}">
                <a16:creationId xmlns:a16="http://schemas.microsoft.com/office/drawing/2014/main" id="{CE9D0549-7440-4964-A258-1F9CD61CB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3884613"/>
            <a:ext cx="5184775" cy="792162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pt-BR" sz="1800"/>
              <a:t>RESULTADO= SOMA* Num1</a:t>
            </a:r>
          </a:p>
        </p:txBody>
      </p:sp>
      <p:sp>
        <p:nvSpPr>
          <p:cNvPr id="39951" name="Line 9">
            <a:extLst>
              <a:ext uri="{FF2B5EF4-FFF2-40B4-BE49-F238E27FC236}">
                <a16:creationId xmlns:a16="http://schemas.microsoft.com/office/drawing/2014/main" id="{8519A8E0-43A3-48B9-BB95-8EBBB2067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4684713"/>
            <a:ext cx="0" cy="2889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ço Reservado para Conteúdo 3">
            <a:extLst>
              <a:ext uri="{FF2B5EF4-FFF2-40B4-BE49-F238E27FC236}">
                <a16:creationId xmlns:a16="http://schemas.microsoft.com/office/drawing/2014/main" id="{BEDE21AA-94D3-49B8-A705-11218A356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703478"/>
            <a:ext cx="9036496" cy="615452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FC6ABE3-F0C9-4597-B096-2E912C3F0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088"/>
            <a:ext cx="4582955" cy="908720"/>
          </a:xfrm>
          <a:ln>
            <a:noFill/>
          </a:ln>
        </p:spPr>
        <p:txBody>
          <a:bodyPr>
            <a:normAutofit/>
          </a:bodyPr>
          <a:lstStyle/>
          <a:p>
            <a:r>
              <a:rPr lang="pt-BR" sz="2800"/>
              <a:t>Tópicos vistos neste capítulo</a:t>
            </a:r>
          </a:p>
        </p:txBody>
      </p:sp>
    </p:spTree>
    <p:extLst>
      <p:ext uri="{BB962C8B-B14F-4D97-AF65-F5344CB8AC3E}">
        <p14:creationId xmlns:p14="http://schemas.microsoft.com/office/powerpoint/2010/main" val="4293174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FF1DF28B-2733-4C94-9875-C96686000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564" y="908720"/>
            <a:ext cx="7772400" cy="5949280"/>
          </a:xfrm>
        </p:spPr>
        <p:txBody>
          <a:bodyPr>
            <a:normAutofit lnSpcReduction="10000"/>
          </a:bodyPr>
          <a:lstStyle/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Bibliografia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WAZLAWICK, Raul Sidnei. Introdução a algoritmos e programação com Python: uma abordagem dirigida por testes. Rio de Janeiro: Elsevier, 2018.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MINHA BIBLIOTECA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Obs.: 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livro consta da biblioteca digital do CEUB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plataforma MINHA BIBLIOTECA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Acesse pelo Espaço Aluno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do capítulo 1 do livro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A705DE-535A-461A-BCF4-5A89627FD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640112"/>
          </a:xfrm>
        </p:spPr>
        <p:txBody>
          <a:bodyPr/>
          <a:lstStyle/>
          <a:p>
            <a:pPr eaLnBrk="1" hangingPunct="1"/>
            <a:r>
              <a:rPr lang="pt-BR" altLang="pt-BR" b="1" dirty="0"/>
              <a:t>Referências</a:t>
            </a:r>
            <a:endParaRPr lang="pt-BR" altLang="pt-BR" dirty="0"/>
          </a:p>
        </p:txBody>
      </p:sp>
      <p:pic>
        <p:nvPicPr>
          <p:cNvPr id="4" name="Imagem 3" descr="Introdução a Algoritmos e Programação com Python: Uma Abordagem Dirigida por Testes">
            <a:extLst>
              <a:ext uri="{FF2B5EF4-FFF2-40B4-BE49-F238E27FC236}">
                <a16:creationId xmlns:a16="http://schemas.microsoft.com/office/drawing/2014/main" id="{AB4BECD8-9083-468B-955E-69F2D1C9EB3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204864"/>
            <a:ext cx="2232248" cy="2448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440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i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20220</TotalTime>
  <Words>722</Words>
  <Application>Microsoft Office PowerPoint</Application>
  <PresentationFormat>Apresentação na tela (4:3)</PresentationFormat>
  <Paragraphs>297</Paragraphs>
  <Slides>34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3" baseType="lpstr">
      <vt:lpstr>Arial</vt:lpstr>
      <vt:lpstr>Arial Black</vt:lpstr>
      <vt:lpstr>Calibri</vt:lpstr>
      <vt:lpstr>Rockwell</vt:lpstr>
      <vt:lpstr>Rockwell Condensed</vt:lpstr>
      <vt:lpstr>Rockwell Extra Bold</vt:lpstr>
      <vt:lpstr>Times New Roman</vt:lpstr>
      <vt:lpstr>Wingdings</vt:lpstr>
      <vt:lpstr>Tipo de Madeira</vt:lpstr>
      <vt:lpstr>Apresentação do PowerPoint</vt:lpstr>
      <vt:lpstr>Apresentação do PowerPoint</vt:lpstr>
      <vt:lpstr>O que significa “programar” um computador</vt:lpstr>
      <vt:lpstr>Lógica de programação</vt:lpstr>
      <vt:lpstr>Resolução de Problemas  Através de Computadores </vt:lpstr>
      <vt:lpstr>Programas</vt:lpstr>
      <vt:lpstr> </vt:lpstr>
      <vt:lpstr>Programação </vt:lpstr>
      <vt:lpstr>Exercício 3.1</vt:lpstr>
      <vt:lpstr>Exercício 3.1</vt:lpstr>
      <vt:lpstr>Exercício 3.2</vt:lpstr>
      <vt:lpstr>Exercício 3.2</vt:lpstr>
      <vt:lpstr>Exercício 3.2</vt:lpstr>
      <vt:lpstr>Estrutura de seleção</vt:lpstr>
      <vt:lpstr>Repetição</vt:lpstr>
      <vt:lpstr>Níveis de linguagem</vt:lpstr>
      <vt:lpstr>Processos de tradução</vt:lpstr>
      <vt:lpstr>Linguagens de programação</vt:lpstr>
      <vt:lpstr>Linguagens de programação - Criadores</vt:lpstr>
      <vt:lpstr>Linguagens de programação - Criadores</vt:lpstr>
      <vt:lpstr>História da linguagem Python</vt:lpstr>
      <vt:lpstr>Como obter um ambiente de programação Python</vt:lpstr>
      <vt:lpstr>Formas de expressar um algoritmo</vt:lpstr>
      <vt:lpstr>1. Descrição narrativa</vt:lpstr>
      <vt:lpstr>Apresentação do PowerPoint</vt:lpstr>
      <vt:lpstr>3. Notação em pseudocódigo</vt:lpstr>
      <vt:lpstr>Exercício 3.4 - Represente utilizando fluxograma</vt:lpstr>
      <vt:lpstr>Apresentação do PowerPoint</vt:lpstr>
      <vt:lpstr>Exercício 3.5 - Represente utilizando fluxograma</vt:lpstr>
      <vt:lpstr>Apresentação do PowerPoint</vt:lpstr>
      <vt:lpstr>Exercício 3.6 - Represente utilizando fluxograma</vt:lpstr>
      <vt:lpstr>Apresentação do PowerPoint</vt:lpstr>
      <vt:lpstr>Tópicos vistos neste capítulo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Programação – Linguagens e Métodos Formais</dc:title>
  <dc:creator>Raul Sidnei Wazlawick</dc:creator>
  <cp:lastModifiedBy>Admin</cp:lastModifiedBy>
  <cp:revision>213</cp:revision>
  <dcterms:created xsi:type="dcterms:W3CDTF">2018-02-23T13:01:13Z</dcterms:created>
  <dcterms:modified xsi:type="dcterms:W3CDTF">2026-07-30T12:35:26Z</dcterms:modified>
</cp:coreProperties>
</file>