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9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95" r:id="rId13"/>
    <p:sldId id="268" r:id="rId14"/>
    <p:sldId id="269" r:id="rId15"/>
    <p:sldId id="287" r:id="rId16"/>
    <p:sldId id="271" r:id="rId17"/>
    <p:sldId id="1715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9RaQXOlPoGQGGuXEIkVL4oHOP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3883" autoAdjust="0"/>
  </p:normalViewPr>
  <p:slideViewPr>
    <p:cSldViewPr snapToGrid="0">
      <p:cViewPr varScale="1">
        <p:scale>
          <a:sx n="68" d="100"/>
          <a:sy n="68" d="100"/>
        </p:scale>
        <p:origin x="139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25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997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505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1971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5695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9649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8647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681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203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534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786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824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body" idx="1"/>
          </p:nvPr>
        </p:nvSpPr>
        <p:spPr>
          <a:xfrm>
            <a:off x="628650" y="1427811"/>
            <a:ext cx="7886700" cy="454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1" name="Google Shape;21;p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24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 rot="5400000">
            <a:off x="2301598" y="-245138"/>
            <a:ext cx="4540807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 rot="5400000">
            <a:off x="4623594" y="2285208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3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69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ahoma"/>
              <a:buNone/>
              <a:defRPr sz="3200" b="1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628650" y="1427811"/>
            <a:ext cx="7886700" cy="454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3">
            <a:alphaModFix/>
          </a:blip>
          <a:srcRect l="62821" r="3833" b="75927"/>
          <a:stretch/>
        </p:blipFill>
        <p:spPr>
          <a:xfrm>
            <a:off x="6765328" y="3"/>
            <a:ext cx="2310713" cy="12521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EF8194B-4E43-4BEF-8D39-035DBDE00B03}"/>
              </a:ext>
            </a:extLst>
          </p:cNvPr>
          <p:cNvSpPr/>
          <p:nvPr/>
        </p:nvSpPr>
        <p:spPr>
          <a:xfrm>
            <a:off x="1540136" y="50994"/>
            <a:ext cx="49455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CEUB</a:t>
            </a:r>
          </a:p>
          <a:p>
            <a:pPr algn="ctr"/>
            <a:r>
              <a:rPr lang="pt-BR" altLang="pt-B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FATECS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46D6EF-0A64-408E-8AD3-A28E69F040D6}"/>
              </a:ext>
            </a:extLst>
          </p:cNvPr>
          <p:cNvSpPr/>
          <p:nvPr/>
        </p:nvSpPr>
        <p:spPr>
          <a:xfrm>
            <a:off x="593890" y="2646356"/>
            <a:ext cx="7352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Análise e Desenvolvimento de Sistemas - ADS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Ciência da Computação - CCO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Engenharia de Software - ESW</a:t>
            </a: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endParaRPr lang="pt-BR" altLang="pt-BR" sz="2800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algn="ctr" defTabSz="457200">
              <a:buClrTx/>
            </a:pPr>
            <a:r>
              <a:rPr lang="pt-BR" altLang="pt-BR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0" y="24682"/>
            <a:ext cx="9106225" cy="567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    - Disciplina:</a:t>
            </a:r>
          </a:p>
          <a:p>
            <a:b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</a:br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    Lógica De Programação - LP</a:t>
            </a:r>
          </a:p>
          <a:p>
            <a:pPr algn="just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just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b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</a:br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endParaRPr lang="pt-BR" altLang="pt-BR" sz="28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algn="r"/>
            <a:r>
              <a:rPr lang="pt-BR" altLang="pt-BR" sz="28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Prof. Barbosa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1547667" y="254474"/>
            <a:ext cx="6176803" cy="569783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pt-BR" sz="2100" dirty="0"/>
              <a:t>Cap. 3 - Próximos tópicos:</a:t>
            </a:r>
            <a:endParaRPr sz="21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 bwMode="auto">
          <a:xfrm>
            <a:off x="767395" y="1310168"/>
            <a:ext cx="6887169" cy="5293358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Significado de uma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variável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Comando de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atribuição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Identificador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valores numéricos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Operações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aritméticas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Formatação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saída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dados pelo teclado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Precedência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operadores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Arredondamento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Notação científica ou exponencial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 xmlns:m="http://schemas.openxmlformats.org/officeDocument/2006/math" xmlns:w="http://schemas.openxmlformats.org/wordprocessingml/2006/main">
      <p:transition spd="slow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08286"/>
            <a:ext cx="7056552" cy="47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Significado de uma variável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88536" y="690863"/>
            <a:ext cx="6117995" cy="616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28625" indent="-257175">
              <a:lnSpc>
                <a:spcPct val="100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Charles Babbage e Ada </a:t>
            </a:r>
            <a:r>
              <a:rPr lang="pt-BR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Lovelace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(primeira metade do Século XIX)</a:t>
            </a:r>
          </a:p>
          <a:p>
            <a:pPr marL="428625" indent="-257175">
              <a:lnSpc>
                <a:spcPct val="100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Atribuição: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valor1 = 10      # Armazena na memória (atribuição)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print(valor1)    # Mostra na tela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valor2 = 20      # Armazena na memória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print(“Valor 2:”, valor2) # Mostra na tela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FontTx/>
              <a:buChar char="-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 na tela: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 2: 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Obs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.: O símbolo # representa um comentário.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Não é executado, apenas documenta o programa.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1D4E96-AD04-4793-8D4F-C41544743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531" y="1671255"/>
            <a:ext cx="2837469" cy="4823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874706"/>
            <a:ext cx="7886700" cy="598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20000"/>
          </a:bodyPr>
          <a:lstStyle/>
          <a:p>
            <a:pPr marL="257175" indent="-2571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Comandos</a:t>
            </a: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valor1 = 10   		# Armazena na memória (atribuição)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print(valor1)		# Mostra na tela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valor2 = 20		# Armazena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print(“Valor 2:”, valor2) # Mostra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 na tela:</a:t>
            </a:r>
            <a:b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</a:t>
            </a:r>
            <a:b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 2: 20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Exercício: </a:t>
            </a:r>
            <a:b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Some o conteúdo da variável valor1 com o conteúdo da variável valor2, armazene o resultado na variável soma e mostre o resultado na tela.</a:t>
            </a: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AF4FE928-D0C0-4FF5-BDC0-44CE8FEB7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62485"/>
            <a:ext cx="7332286" cy="47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Significado de uma variável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8705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169559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Cálculo com variáveis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577242"/>
            <a:ext cx="8119424" cy="628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 Atribuição de variáveis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valor1 = 10		   # Armazena na memória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valor2 = 20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 Processamento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soma = valor1 + valor2  # Calcula e armazena o resultado na memória (soma)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# Exibe o resultado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print(valor1)		   # Mostra na tela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print(valor2)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print(soma)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print(“Soma =“, soma)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Tx/>
              <a:buChar char="-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Saída: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30</a:t>
            </a:r>
          </a:p>
          <a:p>
            <a:pPr marL="0" indent="0">
              <a:lnSpc>
                <a:spcPct val="100000"/>
              </a:lnSpc>
              <a:spcBef>
                <a:spcPts val="450"/>
              </a:spcBef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Soma = 30</a:t>
            </a:r>
          </a:p>
          <a:p>
            <a:pPr marL="0" indent="0">
              <a:spcBef>
                <a:spcPts val="0"/>
              </a:spcBef>
              <a:buSzPts val="24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9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26613" y="857250"/>
            <a:ext cx="7886700" cy="5463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Comandos</a:t>
            </a: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x = 10 + 4		# Calcula e armazena na memória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print(x)		# Mostra na tela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y = 2 * x		# Calcula e armazena na memória</a:t>
            </a: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print(y)		# Mostra</a:t>
            </a: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indent="-342900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Saída</a:t>
            </a: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14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pt-BR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28</a:t>
            </a:r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9D3DB4D9-0648-4A3B-B75B-C1224F0828A7}"/>
              </a:ext>
            </a:extLst>
          </p:cNvPr>
          <p:cNvSpPr/>
          <p:nvPr/>
        </p:nvSpPr>
        <p:spPr>
          <a:xfrm>
            <a:off x="1595332" y="3794176"/>
            <a:ext cx="162018" cy="342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CE9FF033-FFBE-4DA8-AD18-168255DD0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94148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Cálculo com variáveis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66102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39041" y="129829"/>
            <a:ext cx="7886700" cy="43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Comando de atribuição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39041" y="982598"/>
            <a:ext cx="7886700" cy="587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lnSpcReduction="10000"/>
          </a:bodyPr>
          <a:lstStyle/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Comando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válido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x = y + z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Obs.: o cálculo sempre fica do lado direito</a:t>
            </a: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Comando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inválido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y + z = x</a:t>
            </a: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	 = 1			# Memória		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		# Tela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depois desse comando, x vale 1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x+1		</a:t>
            </a:r>
            <a:endParaRPr lang="pt-BR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depois desse comando, x vale 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x+10		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depois desse comando, x vale 12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2400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ts val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0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7057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754000"/>
            <a:ext cx="7886700" cy="6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identificador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pode ter: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letras (maiúsculas ou minúsculas),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dígitos (0 a 9) ou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sublinhado ( _ )</a:t>
            </a:r>
          </a:p>
          <a:p>
            <a:pPr marL="171450" indent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last_name1, nota 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nome_aluno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utilize dígito para iniciar um identificador. </a:t>
            </a:r>
          </a:p>
          <a:p>
            <a:pPr marL="171450" indent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Exemplo: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1last_name é um identificador ilegal.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utilize palavras-chave (comandos) da linguagem como nomes de identificadores.</a:t>
            </a:r>
          </a:p>
          <a:p>
            <a:pPr marL="171450" indent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Exemplo: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print, input, if, else, while, for</a:t>
            </a:r>
          </a:p>
          <a:p>
            <a:pPr marL="0" indent="0">
              <a:spcBef>
                <a:spcPts val="0"/>
              </a:spcBef>
              <a:buSzPts val="2400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8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77081" y="1074656"/>
            <a:ext cx="8195580" cy="578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é case sensitive (sensível a maiúsculas e minúsculas)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 que as variáveis maiúsculas e minúsculas são diferentes. </a:t>
            </a:r>
          </a:p>
          <a:p>
            <a:pPr marL="428625" indent="-257175">
              <a:buFont typeface="Arial" panose="020B0604020202020204" pitchFamily="34" charset="0"/>
              <a:buChar char="•"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são duas variáveis diferentes.</a:t>
            </a: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significativo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variáveis para aumentar a legibilidade do código.</a:t>
            </a: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 variável contém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várias palavras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elas devem ser separadas por sublinhado (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media_notas</a:t>
            </a: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20382B39-E052-4DFC-B0AC-EDD084B79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5990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57379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796418"/>
            <a:ext cx="7886700" cy="606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20000"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Maiúsculas e minúsculas são diferentes: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print(a)	# Erro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nomes sem significado: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use </a:t>
            </a:r>
            <a:r>
              <a:rPr lang="pt-BR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</a:t>
            </a:r>
            <a:r>
              <a:rPr lang="pt-BR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vez de </a:t>
            </a:r>
            <a:r>
              <a:rPr lang="pt-BR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números,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(sublinhado) é opcional: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teste1 ou teste_1.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identificadores de variáveis.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media_aluno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soma_valores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28625" lvl="0" indent="-257175">
              <a:buFont typeface="Arial" panose="020B0604020202020204" pitchFamily="34" charset="0"/>
              <a:buChar char="•"/>
            </a:pP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</a:t>
            </a:r>
          </a:p>
          <a:p>
            <a:pPr indent="-342900">
              <a:spcBef>
                <a:spcPts val="0"/>
              </a:spcBef>
              <a:buSzPts val="2400"/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Convenção usada em Python para nome de variável, função e módulo. </a:t>
            </a:r>
          </a:p>
          <a:p>
            <a:pPr indent="-342900">
              <a:spcBef>
                <a:spcPts val="0"/>
              </a:spcBef>
              <a:buSzPts val="2400"/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Nomes compostos com várias palavras usamos o sublinhado (_) e apenas letras minúsculas.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5574F997-D43F-4054-B691-A0231232C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11978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1061754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296039"/>
            <a:ext cx="7886700" cy="472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identificadores de variáveis.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Ex.: 	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media_aluno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soma_valores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Observações:</a:t>
            </a: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a convenção de nomenclatura em que cada espaço é substituído por um caractere de sublinhado e as palavras são escritas em letras minúsculas. </a:t>
            </a:r>
          </a:p>
          <a:p>
            <a:pPr marL="257175" indent="-257175"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2400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É uma convenção de nomenclatura comumente usada em computação, por exemplo, para nome de variáveis, funções (rotinas) e nome de arquivos.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F2F89523-F38B-4249-A3CC-4E640FF76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45990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</a:t>
            </a:r>
            <a:r>
              <a:rPr lang="pt-BR" sz="2100" dirty="0" err="1"/>
              <a:t>snake_case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3246635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21258" y="777566"/>
            <a:ext cx="8128851" cy="59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inicie com dígito: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1a_escolha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Somente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dígitos, letras 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parte#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R$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teste_1º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Letras acentuadas são possíveis, mas evite para nomes de variáveis.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acento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somente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dentro nas mensagens do comando print.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usar palavras reservadas da linguagem: 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print, input, if, else, while, for, continue, def etc.</a:t>
            </a:r>
          </a:p>
          <a:p>
            <a:pPr marL="0" indent="0">
              <a:spcBef>
                <a:spcPts val="0"/>
              </a:spcBef>
              <a:buSzPts val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96;p3">
            <a:extLst>
              <a:ext uri="{FF2B5EF4-FFF2-40B4-BE49-F238E27FC236}">
                <a16:creationId xmlns:a16="http://schemas.microsoft.com/office/drawing/2014/main" id="{C34FA0B3-33AE-4CB6-BE60-A5976D140A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7057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617353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740474"/>
            <a:ext cx="8364521" cy="61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Exercício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400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Quais das expressões abaixo são para válidas para variáveis em Python? </a:t>
            </a:r>
            <a:b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 que não são válidas, qual o motivo?</a:t>
            </a:r>
          </a:p>
          <a:p>
            <a:pPr marL="0" indent="0">
              <a:spcBef>
                <a:spcPts val="0"/>
              </a:spcBef>
              <a:buClrTx/>
              <a:buSzPts val="2400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Madeira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CasaDePedra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tábua_de_passar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Linha42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3a_dimensão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validação&amp;verificação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14bis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7E4223E0-671E-47AF-8618-918586936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5541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482667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588571" y="857250"/>
            <a:ext cx="8055808" cy="600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85000" lnSpcReduction="20000"/>
          </a:bodyPr>
          <a:lstStyle/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Exercício: </a:t>
            </a:r>
          </a:p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Tx/>
              <a:buChar char="-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Quais das expressões abaixo são para válidas para variáveis em Python? </a:t>
            </a:r>
            <a:b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 que não são válidas, qual o motivo?</a:t>
            </a:r>
          </a:p>
          <a:p>
            <a:pPr marL="257175" indent="-257175">
              <a:lnSpc>
                <a:spcPct val="120000"/>
              </a:lnSpc>
              <a:spcBef>
                <a:spcPts val="0"/>
              </a:spcBef>
              <a:buSzPts val="2400"/>
              <a:buFontTx/>
              <a:buChar char="-"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SzPts val="2400"/>
            </a:pPr>
            <a:endParaRPr lang="pt-BR" dirty="0"/>
          </a:p>
          <a:p>
            <a:pPr marL="0" indent="0">
              <a:spcBef>
                <a:spcPts val="0"/>
              </a:spcBef>
              <a:buSzPts val="2400"/>
            </a:pPr>
            <a:endParaRPr lang="pt-BR" dirty="0"/>
          </a:p>
          <a:p>
            <a:pPr marL="0" indent="0">
              <a:spcBef>
                <a:spcPts val="0"/>
              </a:spcBef>
              <a:buClrTx/>
              <a:buSzPts val="2400"/>
            </a:pPr>
            <a:r>
              <a:rPr lang="pt-BR" dirty="0">
                <a:solidFill>
                  <a:schemeClr val="tx1"/>
                </a:solidFill>
              </a:rPr>
              <a:t>				</a:t>
            </a:r>
          </a:p>
          <a:p>
            <a:pPr marL="0" indent="0">
              <a:spcBef>
                <a:spcPts val="0"/>
              </a:spcBef>
              <a:buClrTx/>
              <a:buSzPts val="2400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Madeira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tx1"/>
                </a:solidFill>
              </a:rPr>
              <a:t>CasaDePedra</a:t>
            </a: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tx1"/>
                </a:solidFill>
              </a:rPr>
              <a:t>tábua_de_passar</a:t>
            </a: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Linha42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3a_dimensão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tx1"/>
                </a:solidFill>
              </a:rPr>
              <a:t>validação&amp;verificação</a:t>
            </a: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14bis</a:t>
            </a: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endParaRPr lang="pt-BR" dirty="0">
              <a:solidFill>
                <a:schemeClr val="tx1"/>
              </a:solidFill>
            </a:endParaRPr>
          </a:p>
          <a:p>
            <a:pPr marL="257175" indent="-257175">
              <a:spcBef>
                <a:spcPts val="0"/>
              </a:spcBef>
              <a:buClrTx/>
              <a:buSzPts val="2400"/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tx1"/>
                </a:solidFill>
              </a:rPr>
              <a:t>continue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2D5A4D-85B9-4D84-B4F1-22FCBAC593FC}"/>
              </a:ext>
            </a:extLst>
          </p:cNvPr>
          <p:cNvSpPr txBox="1"/>
          <p:nvPr/>
        </p:nvSpPr>
        <p:spPr>
          <a:xfrm>
            <a:off x="3435589" y="1787223"/>
            <a:ext cx="5246497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r>
              <a:rPr lang="pt-BR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 de identificadores (variáveis):</a:t>
            </a:r>
          </a:p>
          <a:p>
            <a:pPr>
              <a:spcAft>
                <a:spcPts val="600"/>
              </a:spcAft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Veja as justificativas abaixo:</a:t>
            </a:r>
          </a:p>
          <a:p>
            <a:pPr>
              <a:spcAft>
                <a:spcPts val="600"/>
              </a:spcAft>
            </a:pPr>
            <a:endParaRPr lang="pt-BR" sz="2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madeira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</a:t>
            </a:r>
            <a:r>
              <a:rPr lang="pt-BR" sz="2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casa_pedra</a:t>
            </a: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</a:t>
            </a:r>
            <a:r>
              <a:rPr lang="pt-BR" sz="2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tabua_passar</a:t>
            </a: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Ok, linha42 ou linha_42 (convenção)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Começa por dígito (errado)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Usa caractere especial &amp; (errado)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Começa por dígito (errado)</a:t>
            </a:r>
          </a:p>
          <a:p>
            <a:pPr marL="214313" indent="-214313">
              <a:spcAft>
                <a:spcPts val="600"/>
              </a:spcAft>
              <a:buFontTx/>
              <a:buChar char="-"/>
            </a:pPr>
            <a:r>
              <a:rPr lang="pt-BR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Palavra reservada da linguagem (errado)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CA597BE2-B40F-4625-B402-0BAFA769E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55416"/>
            <a:ext cx="7886700" cy="5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Identificador (variável) – Regras para nomear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253042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28650" y="230833"/>
            <a:ext cx="7886700" cy="39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 algn="ctr"/>
            <a:r>
              <a:rPr lang="pt-BR" sz="2100" dirty="0"/>
              <a:t>Tipos de valores numéricos</a:t>
            </a:r>
            <a:endParaRPr sz="21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28650" y="1310182"/>
            <a:ext cx="7886700" cy="5118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Números inteiros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78, -467 ou 23786874236487263786423;</a:t>
            </a:r>
          </a:p>
          <a:p>
            <a:pPr lvl="0"/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Números de ponto flutuante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1.0, 45.2222, -46.78;</a:t>
            </a:r>
          </a:p>
          <a:p>
            <a:pPr lvl="0"/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"True" e "False";</a:t>
            </a:r>
          </a:p>
          <a:p>
            <a:pPr lvl="0"/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8625" indent="-257175">
              <a:buFont typeface="Arial" panose="020B0604020202020204" pitchFamily="34" charset="0"/>
              <a:buChar char="•"/>
            </a:pP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Números complexos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(3+4j), (-2+4.5j), (56.2-7.67j).</a:t>
            </a:r>
          </a:p>
        </p:txBody>
      </p:sp>
    </p:spTree>
    <p:extLst>
      <p:ext uri="{BB962C8B-B14F-4D97-AF65-F5344CB8AC3E}">
        <p14:creationId xmlns:p14="http://schemas.microsoft.com/office/powerpoint/2010/main" val="323910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FF1DF28B-2733-4C94-9875-C96686000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564" y="908720"/>
            <a:ext cx="7772400" cy="5949280"/>
          </a:xfrm>
        </p:spPr>
        <p:txBody>
          <a:bodyPr>
            <a:normAutofit fontScale="92500" lnSpcReduction="10000"/>
          </a:bodyPr>
          <a:lstStyle/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8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WAZLAWICK, Raul Sidnei. Introdução a algoritmos e programação com Python: uma abordagem dirigida por testes. Rio de Janeiro: Elsevier, 2018.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MINHA BIBLIOTECA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livro consta da biblioteca digital do CEUB 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plataforma MINHA BIBLIOTECA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Acesse pelo Espaço Aluno</a:t>
            </a:r>
            <a:b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alt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do capítulo 3 do livro</a:t>
            </a:r>
          </a:p>
          <a:p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A705DE-535A-461A-BCF4-5A89627FD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6401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altLang="pt-BR" sz="2800" b="1" dirty="0"/>
              <a:t>Referências</a:t>
            </a:r>
            <a:endParaRPr lang="pt-BR" altLang="pt-BR" sz="2800" dirty="0"/>
          </a:p>
        </p:txBody>
      </p:sp>
      <p:pic>
        <p:nvPicPr>
          <p:cNvPr id="4" name="Imagem 3" descr="Introdução a Algoritmos e Programação com Python: Uma Abordagem Dirigida por Testes">
            <a:extLst>
              <a:ext uri="{FF2B5EF4-FFF2-40B4-BE49-F238E27FC236}">
                <a16:creationId xmlns:a16="http://schemas.microsoft.com/office/drawing/2014/main" id="{AB4BECD8-9083-468B-955E-69F2D1C9EB3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742" y="2410669"/>
            <a:ext cx="2232248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440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18977</TotalTime>
  <Words>317</Words>
  <Application>Microsoft Office PowerPoint</Application>
  <PresentationFormat>Apresentação na tela (4:3)</PresentationFormat>
  <Paragraphs>237</Paragraphs>
  <Slides>17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Wingdings</vt:lpstr>
      <vt:lpstr>Tahoma</vt:lpstr>
      <vt:lpstr>Times New Roman</vt:lpstr>
      <vt:lpstr>Calibri</vt:lpstr>
      <vt:lpstr>Tema do Office</vt:lpstr>
      <vt:lpstr>Apresentação do PowerPoint</vt:lpstr>
      <vt:lpstr>Apresentação do PowerPoint</vt:lpstr>
      <vt:lpstr>Cap. 3 - Próximos tópicos:</vt:lpstr>
      <vt:lpstr>Significado de uma variável</vt:lpstr>
      <vt:lpstr>Significado de uma variável</vt:lpstr>
      <vt:lpstr>Cálculo com variáveis</vt:lpstr>
      <vt:lpstr>Cálculo com variáveis</vt:lpstr>
      <vt:lpstr>Comando de atribuição</vt:lpstr>
      <vt:lpstr>Identificador (variável) – Regras para nomear</vt:lpstr>
      <vt:lpstr>Identificador (variável) – Regras para nomear</vt:lpstr>
      <vt:lpstr>Identificador (variável) – Regras para nomear</vt:lpstr>
      <vt:lpstr>Identificador (variável) – snake_case</vt:lpstr>
      <vt:lpstr>Identificador (variável) – Regras para nomear</vt:lpstr>
      <vt:lpstr>Identificador (variável) – Regras para nomear</vt:lpstr>
      <vt:lpstr>Identificador (variável) – Regras para nomear</vt:lpstr>
      <vt:lpstr>Tipos de valores numéricos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Henrique Paganotti Perez</dc:creator>
  <cp:lastModifiedBy>Admin</cp:lastModifiedBy>
  <cp:revision>224</cp:revision>
  <dcterms:created xsi:type="dcterms:W3CDTF">2020-12-15T14:04:25Z</dcterms:created>
  <dcterms:modified xsi:type="dcterms:W3CDTF">2026-07-30T12:46:56Z</dcterms:modified>
</cp:coreProperties>
</file>