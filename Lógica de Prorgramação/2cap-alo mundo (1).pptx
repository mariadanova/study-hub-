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1716" r:id="rId4"/>
    <p:sldId id="1719" r:id="rId5"/>
    <p:sldId id="257" r:id="rId6"/>
    <p:sldId id="1718" r:id="rId7"/>
    <p:sldId id="258" r:id="rId8"/>
    <p:sldId id="259" r:id="rId9"/>
    <p:sldId id="260" r:id="rId10"/>
    <p:sldId id="261" r:id="rId11"/>
    <p:sldId id="262" r:id="rId12"/>
    <p:sldId id="263" r:id="rId13"/>
    <p:sldId id="265" r:id="rId14"/>
    <p:sldId id="1715" r:id="rId15"/>
    <p:sldId id="1720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1717" r:id="rId27"/>
  </p:sldIdLst>
  <p:sldSz cx="9144000" cy="6858000" type="screen4x3"/>
  <p:notesSz cx="9144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>
          <p15:clr>
            <a:srgbClr val="A4A3A4"/>
          </p15:clr>
        </p15:guide>
        <p15:guide id="2" pos="289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enhum Estilo, Grade de Tabela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tx1"/>
              </a:solidFill>
            </a:ln>
          </a:left>
          <a:right>
            <a:ln w="12700">
              <a:solidFill>
                <a:schemeClr val="tx1"/>
              </a:solidFill>
            </a:ln>
          </a:right>
          <a:top>
            <a:ln w="12700">
              <a:solidFill>
                <a:schemeClr val="tx1"/>
              </a:solidFill>
            </a:ln>
          </a:top>
          <a:bottom>
            <a:ln w="12700">
              <a:solidFill>
                <a:schemeClr val="tx1"/>
              </a:solidFill>
            </a:ln>
          </a:bottom>
          <a:insideH>
            <a:ln w="12700">
              <a:solidFill>
                <a:schemeClr val="tx1"/>
              </a:solidFill>
            </a:ln>
          </a:insideH>
          <a:insideV>
            <a:ln w="12700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660"/>
  </p:normalViewPr>
  <p:slideViewPr>
    <p:cSldViewPr>
      <p:cViewPr varScale="1">
        <p:scale>
          <a:sx n="68" d="100"/>
          <a:sy n="68" d="100"/>
        </p:scale>
        <p:origin x="1264" y="48"/>
      </p:cViewPr>
      <p:guideLst>
        <p:guide orient="horz" pos="2242"/>
        <p:guide pos="28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2794D0-92EC-4BBC-A4CA-337FF64A3551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0F943-AA99-4DC5-818C-43C6896D2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412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Slide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685800" y="1346947"/>
            <a:ext cx="7772400" cy="80683"/>
          </a:xfrm>
          <a:prstGeom prst="rect">
            <a:avLst/>
          </a:prstGeom>
          <a:blipFill>
            <a:blip r:embed="rId2">
              <a:alphaModFix amt="80000"/>
              <a:lum bright="70000" contrast="-70000"/>
            </a:blip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685800" y="4282763"/>
            <a:ext cx="7772400" cy="80683"/>
          </a:xfrm>
          <a:prstGeom prst="rect">
            <a:avLst/>
          </a:prstGeom>
          <a:blipFill>
            <a:blip r:embed="rId2">
              <a:alphaModFix amt="80000"/>
              <a:lum bright="70000" contrast="-70000"/>
            </a:blip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685800" y="1484779"/>
            <a:ext cx="7772400" cy="2743200"/>
          </a:xfrm>
          <a:prstGeom prst="rect">
            <a:avLst/>
          </a:prstGeom>
          <a:blipFill>
            <a:blip r:embed="rId2">
              <a:alphaModFix amt="80000"/>
              <a:lum bright="70000" contrast="-70000"/>
            </a:blip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 bwMode="auto"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 bwMode="auto">
            <a:xfrm>
              <a:off x="9685338" y="4460675"/>
              <a:ext cx="1080904" cy="1080902"/>
            </a:xfrm>
            <a:prstGeom prst="ellipse">
              <a:avLst/>
            </a:prstGeom>
            <a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 bwMode="auto"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>
                <a:blipFill>
                  <a:blip r:embed="rId3"/>
                  <a:tile tx="6350" ty="-127000" sx="65000" sy="64000" flip="none" algn="tl"/>
                </a:blipFill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>
              <a:defRPr/>
            </a:pPr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85800" y="260648"/>
            <a:ext cx="7772400" cy="856136"/>
          </a:xfrm>
        </p:spPr>
        <p:txBody>
          <a:bodyPr>
            <a:normAutofit/>
          </a:bodyPr>
          <a:lstStyle>
            <a:lvl1pPr algn="ctr">
              <a:defRPr sz="2800" b="0" cap="none"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Cabeçalho da Se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0" y="4917989"/>
            <a:ext cx="9144000" cy="1940010"/>
          </a:xfrm>
          <a:prstGeom prst="rect">
            <a:avLst/>
          </a:prstGeom>
          <a:blipFill>
            <a:blip r:embed="rId2">
              <a:alphaModFix amt="80000"/>
              <a:lum bright="70000" contrast="-70000"/>
            </a:blip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 bwMode="auto"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 bwMode="auto">
            <a:xfrm>
              <a:off x="9685338" y="4460675"/>
              <a:ext cx="1080904" cy="1080902"/>
            </a:xfrm>
            <a:prstGeom prst="ellipse">
              <a:avLst/>
            </a:prstGeom>
            <a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 bwMode="auto"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45450" y="2508607"/>
            <a:ext cx="891224" cy="720331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Obj" preserve="1" userDrawn="1">
  <p:cSld name="Duas Partes d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TxTwoObj" preserve="1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 userDrawn="1">
  <p:cSld name="Soment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6227806" y="1"/>
            <a:ext cx="2916194" cy="6857999"/>
          </a:xfrm>
          <a:prstGeom prst="rect">
            <a:avLst/>
          </a:prstGeom>
          <a:blipFill>
            <a:blip r:embed="rId2">
              <a:alphaModFix amt="60000"/>
              <a:lum bright="70000" contrast="-70000"/>
            </a:blip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</p:txBody>
      </p:sp>
      <p:grpSp>
        <p:nvGrpSpPr>
          <p:cNvPr id="12" name="Group 11"/>
          <p:cNvGrpSpPr/>
          <p:nvPr/>
        </p:nvGrpSpPr>
        <p:grpSpPr bwMode="auto"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 bwMode="auto">
            <a:xfrm>
              <a:off x="8532189" y="5068824"/>
              <a:ext cx="393192" cy="393192"/>
            </a:xfrm>
            <a:prstGeom prst="ellipse">
              <a:avLst/>
            </a:prstGeom>
            <a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6227806" y="1"/>
            <a:ext cx="2916194" cy="6857999"/>
          </a:xfrm>
          <a:prstGeom prst="rect">
            <a:avLst/>
          </a:prstGeom>
          <a:blipFill>
            <a:blip r:embed="rId2">
              <a:alphaModFix amt="60000"/>
              <a:lum bright="70000" contrast="-70000"/>
            </a:blip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0" y="0"/>
            <a:ext cx="6227805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Editar estilos de texto Mestre</a:t>
            </a:r>
            <a:endParaRPr/>
          </a:p>
        </p:txBody>
      </p:sp>
      <p:grpSp>
        <p:nvGrpSpPr>
          <p:cNvPr id="12" name="Group 11"/>
          <p:cNvGrpSpPr/>
          <p:nvPr/>
        </p:nvGrpSpPr>
        <p:grpSpPr bwMode="auto"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 bwMode="auto">
            <a:xfrm>
              <a:off x="8532189" y="5068824"/>
              <a:ext cx="393192" cy="393192"/>
            </a:xfrm>
            <a:prstGeom prst="ellipse">
              <a:avLst/>
            </a:prstGeom>
            <a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x" preserve="1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 userDrawn="1">
  <p:cSld name="Texto e Títul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0100" y="533400"/>
            <a:ext cx="5629275" cy="5638800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298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60648"/>
            <a:ext cx="7772400" cy="640112"/>
          </a:xfrm>
        </p:spPr>
        <p:txBody>
          <a:bodyPr>
            <a:normAutofit/>
          </a:bodyPr>
          <a:lstStyle>
            <a:lvl1pPr algn="ctr">
              <a:defRPr sz="2800" cap="none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0768"/>
            <a:ext cx="7772400" cy="483143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234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02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020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253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62812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53114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501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1448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0936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25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 bwMode="auto"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 bwMode="auto">
            <a:xfrm>
              <a:off x="8532189" y="5068824"/>
              <a:ext cx="393192" cy="393192"/>
            </a:xfrm>
            <a:prstGeom prst="ellipse">
              <a:avLst/>
            </a:prstGeom>
            <a:blipFill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Editar estilos de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2E700DB3-DBF0-4086-B675-117E7A9610B8}" type="datetimeFigureOut">
              <a:rPr lang="pt-BR"/>
              <a:t>29/07/2026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2119D8CF-8DEC-4D9F-84EE-ADF04DFF3391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200" b="0" cap="all">
          <a:blipFill>
            <a:blip r:embed="rId14"/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96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7384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EF8194B-4E43-4BEF-8D39-035DBDE00B03}"/>
              </a:ext>
            </a:extLst>
          </p:cNvPr>
          <p:cNvSpPr/>
          <p:nvPr/>
        </p:nvSpPr>
        <p:spPr>
          <a:xfrm>
            <a:off x="1540136" y="50994"/>
            <a:ext cx="49455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alt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CEUB</a:t>
            </a:r>
          </a:p>
          <a:p>
            <a:pPr algn="ctr"/>
            <a:r>
              <a:rPr lang="pt-BR" alt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FATECS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46D6EF-0A64-408E-8AD3-A28E69F040D6}"/>
              </a:ext>
            </a:extLst>
          </p:cNvPr>
          <p:cNvSpPr/>
          <p:nvPr/>
        </p:nvSpPr>
        <p:spPr>
          <a:xfrm>
            <a:off x="593890" y="2699042"/>
            <a:ext cx="735290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Análise e Desenvolvimento de Sistemas - ADS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Ciência da Computação - CCO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Engenharia de Software - ESW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Barbosa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0" y="24682"/>
            <a:ext cx="9106225" cy="560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r>
              <a:rPr lang="pt-BR" altLang="pt-BR" sz="3000" dirty="0">
                <a:latin typeface="+mj-lt"/>
                <a:cs typeface="Times New Roman" panose="02020603050405020304" pitchFamily="18" charset="0"/>
              </a:rPr>
              <a:t>	</a:t>
            </a:r>
          </a:p>
          <a:p>
            <a:r>
              <a:rPr lang="pt-BR" altLang="pt-BR" sz="3000" dirty="0">
                <a:latin typeface="+mj-lt"/>
                <a:cs typeface="Times New Roman" panose="02020603050405020304" pitchFamily="18" charset="0"/>
              </a:rPr>
              <a:t>     - Disciplina:</a:t>
            </a:r>
          </a:p>
          <a:p>
            <a:br>
              <a:rPr lang="pt-BR" altLang="pt-BR" sz="3000" dirty="0">
                <a:latin typeface="+mj-lt"/>
                <a:cs typeface="Times New Roman" panose="02020603050405020304" pitchFamily="18" charset="0"/>
              </a:rPr>
            </a:br>
            <a:r>
              <a:rPr lang="pt-BR" altLang="pt-BR" sz="3000" dirty="0">
                <a:latin typeface="+mj-lt"/>
                <a:cs typeface="Times New Roman" panose="02020603050405020304" pitchFamily="18" charset="0"/>
              </a:rPr>
              <a:t>     Lógica De Programação - LP</a:t>
            </a:r>
          </a:p>
          <a:p>
            <a:pPr algn="just"/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pPr algn="just"/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pPr algn="just"/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pPr algn="r"/>
            <a:br>
              <a:rPr lang="pt-BR" altLang="pt-BR" sz="3000" dirty="0">
                <a:latin typeface="+mj-lt"/>
                <a:cs typeface="Times New Roman" panose="02020603050405020304" pitchFamily="18" charset="0"/>
              </a:rPr>
            </a:br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pPr algn="r"/>
            <a:endParaRPr lang="pt-BR" altLang="pt-BR" sz="3000" dirty="0">
              <a:latin typeface="+mj-lt"/>
              <a:cs typeface="Times New Roman" panose="02020603050405020304" pitchFamily="18" charset="0"/>
            </a:endParaRPr>
          </a:p>
          <a:p>
            <a:pPr algn="r"/>
            <a:r>
              <a:rPr lang="pt-BR" altLang="pt-BR" sz="3000" dirty="0">
                <a:latin typeface="+mj-lt"/>
                <a:cs typeface="Times New Roman" panose="02020603050405020304" pitchFamily="18" charset="0"/>
              </a:rPr>
              <a:t>Prof. Barbosa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685800" y="44624"/>
            <a:ext cx="7772400" cy="864096"/>
          </a:xfrm>
        </p:spPr>
        <p:txBody>
          <a:bodyPr/>
          <a:lstStyle/>
          <a:p>
            <a:r>
              <a:rPr lang="pt-BR" b="1" dirty="0"/>
              <a:t>Acessar no laboratório </a:t>
            </a:r>
            <a:endParaRPr lang="pt-BR" dirty="0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A9E0E702-65CC-4C52-8DDE-7139DEAE4FD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475656" y="1124744"/>
            <a:ext cx="6982544" cy="5400600"/>
          </a:xfrm>
        </p:spPr>
        <p:txBody>
          <a:bodyPr/>
          <a:lstStyle/>
          <a:p>
            <a:pPr marL="0" indent="0">
              <a:buNone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E-mail </a:t>
            </a: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sempreceub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nome1.nome2@sempreceub.com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Login:</a:t>
            </a:r>
            <a:b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Digite o e-mail sempreceub.com somente até antes do @</a:t>
            </a:r>
          </a:p>
          <a:p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Exemplo:</a:t>
            </a:r>
            <a:b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nome1.nome2</a:t>
            </a:r>
          </a:p>
          <a:p>
            <a:pPr marL="0" indent="0">
              <a:buNone/>
            </a:pP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Senha:</a:t>
            </a:r>
            <a:b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sua senha do espaço aluno</a:t>
            </a:r>
          </a:p>
        </p:txBody>
      </p:sp>
    </p:spTree>
    <p:extLst>
      <p:ext uri="{BB962C8B-B14F-4D97-AF65-F5344CB8AC3E}">
        <p14:creationId xmlns:p14="http://schemas.microsoft.com/office/powerpoint/2010/main" val="2537607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685800" y="44624"/>
            <a:ext cx="7772400" cy="648072"/>
          </a:xfrm>
        </p:spPr>
        <p:txBody>
          <a:bodyPr/>
          <a:lstStyle/>
          <a:p>
            <a:r>
              <a:rPr lang="pt-BR" b="1" dirty="0"/>
              <a:t>Acessar o IDE PyCharm no laboratório</a:t>
            </a:r>
            <a:endParaRPr lang="pt-BR" dirty="0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A9E0E702-65CC-4C52-8DDE-7139DEAE4FD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259632" y="764704"/>
            <a:ext cx="7198568" cy="6093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Selecione o Ícone do IDE PyCharm      </a:t>
            </a:r>
          </a:p>
          <a:p>
            <a:pPr marL="0" indent="0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	Confirmar leitura</a:t>
            </a:r>
          </a:p>
          <a:p>
            <a:pPr marL="0" indent="0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Botão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Don’t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</a:t>
            </a:r>
          </a:p>
          <a:p>
            <a:pPr marL="0" indent="0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Passos para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um projeto:</a:t>
            </a:r>
          </a:p>
          <a:p>
            <a:pPr>
              <a:buFontTx/>
              <a:buChar char="-"/>
            </a:pP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[+]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project</a:t>
            </a:r>
          </a:p>
          <a:p>
            <a:pPr>
              <a:buFontTx/>
              <a:buChar char="-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Botão: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azul (canto inferior direito)</a:t>
            </a:r>
          </a:p>
          <a:p>
            <a:pPr>
              <a:buFontTx/>
              <a:buChar char="-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PythonProject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(canto superior esquerdo)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Mouse direito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New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Python file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Digite o nome do programa (tecla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>
              <a:buFontTx/>
              <a:buChar char="-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1AB3204-203D-4EB2-83B7-DA3B055951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52120" y="908720"/>
            <a:ext cx="648072" cy="648072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4163C0DC-59C6-459E-9F4C-D30FBF8F72F7}"/>
              </a:ext>
            </a:extLst>
          </p:cNvPr>
          <p:cNvSpPr/>
          <p:nvPr/>
        </p:nvSpPr>
        <p:spPr>
          <a:xfrm>
            <a:off x="1691680" y="1700808"/>
            <a:ext cx="36004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Escrevendo seu primeiro programa</a:t>
            </a:r>
            <a:endParaRPr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3383" y="1884079"/>
            <a:ext cx="4052633" cy="1306520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 bwMode="auto">
          <a:xfrm>
            <a:off x="1907704" y="3721531"/>
            <a:ext cx="414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latin typeface="Calibri"/>
                <a:ea typeface="Calibri"/>
                <a:cs typeface="Times New Roman"/>
              </a:rPr>
              <a:t>Run + Run (executar ou rodar o programa)</a:t>
            </a:r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63383" y="4764025"/>
            <a:ext cx="5564863" cy="1482051"/>
          </a:xfrm>
          <a:prstGeom prst="rect">
            <a:avLst/>
          </a:prstGeom>
        </p:spPr>
      </p:pic>
      <p:sp>
        <p:nvSpPr>
          <p:cNvPr id="10" name="Seta: para Baixo 9"/>
          <p:cNvSpPr/>
          <p:nvPr/>
        </p:nvSpPr>
        <p:spPr bwMode="auto">
          <a:xfrm>
            <a:off x="2123728" y="3284984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Seta: para Baixo 10"/>
          <p:cNvSpPr/>
          <p:nvPr/>
        </p:nvSpPr>
        <p:spPr bwMode="auto">
          <a:xfrm>
            <a:off x="2123728" y="4295212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60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Erro de sintaxe</a:t>
            </a:r>
            <a:endParaRPr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606360" y="1916832"/>
            <a:ext cx="3087550" cy="102349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0354" y="4509120"/>
            <a:ext cx="7459982" cy="1609344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 bwMode="auto">
          <a:xfrm>
            <a:off x="1907704" y="3496214"/>
            <a:ext cx="11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latin typeface="Calibri"/>
                <a:ea typeface="Calibri"/>
                <a:cs typeface="Times New Roman"/>
              </a:rPr>
              <a:t>Run + Run</a:t>
            </a:r>
            <a:endParaRPr lang="pt-BR"/>
          </a:p>
        </p:txBody>
      </p:sp>
      <p:sp>
        <p:nvSpPr>
          <p:cNvPr id="7" name="Seta: para Baixo 6"/>
          <p:cNvSpPr/>
          <p:nvPr/>
        </p:nvSpPr>
        <p:spPr bwMode="auto">
          <a:xfrm>
            <a:off x="2123728" y="3059668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" name="Seta: para Baixo 7"/>
          <p:cNvSpPr/>
          <p:nvPr/>
        </p:nvSpPr>
        <p:spPr bwMode="auto">
          <a:xfrm>
            <a:off x="2123728" y="4069896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Balão de Pensamento: Nuvem 8"/>
          <p:cNvSpPr/>
          <p:nvPr/>
        </p:nvSpPr>
        <p:spPr bwMode="auto">
          <a:xfrm>
            <a:off x="4427984" y="1340768"/>
            <a:ext cx="4536504" cy="2729128"/>
          </a:xfrm>
          <a:prstGeom prst="cloudCallout">
            <a:avLst>
              <a:gd name="adj1" fmla="val -55253"/>
              <a:gd name="adj2" fmla="val 917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pt-BR" sz="1600" dirty="0"/>
              <a:t>Em vez de simplesmente ficar quebrando a cabeça e tentando fazer seu programa funcionar por tentativa e erro, procure ler a </a:t>
            </a:r>
            <a:br>
              <a:rPr lang="pt-BR" sz="1600" dirty="0"/>
            </a:br>
            <a:r>
              <a:rPr lang="pt-BR" sz="1600" dirty="0"/>
              <a:t>mensagem de erro.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Aspas simples ou duplas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b="1" dirty="0"/>
              <a:t>print("bica d'água")</a:t>
            </a:r>
            <a:endParaRPr dirty="0"/>
          </a:p>
          <a:p>
            <a:pPr>
              <a:defRPr/>
            </a:pPr>
            <a:endParaRPr lang="pt-BR" b="1" dirty="0"/>
          </a:p>
          <a:p>
            <a:pPr>
              <a:defRPr/>
            </a:pPr>
            <a:endParaRPr lang="pt-BR" b="1" dirty="0"/>
          </a:p>
          <a:p>
            <a:pPr>
              <a:defRPr/>
            </a:pPr>
            <a:r>
              <a:rPr lang="pt-BR" b="1" dirty="0"/>
              <a:t>print('bica d'água')</a:t>
            </a:r>
            <a:endParaRPr lang="pt-BR" dirty="0"/>
          </a:p>
        </p:txBody>
      </p:sp>
      <p:pic>
        <p:nvPicPr>
          <p:cNvPr id="5" name="Gráfico 4" descr="Rosto Triste com Preenchimento Sólido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657600" y="3232404"/>
            <a:ext cx="914400" cy="914400"/>
          </a:xfrm>
          <a:prstGeom prst="rect">
            <a:avLst/>
          </a:prstGeom>
        </p:spPr>
      </p:pic>
      <p:pic>
        <p:nvPicPr>
          <p:cNvPr id="7" name="Gráfico 6" descr="Rosto Piscando com Preenchimento Sólido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657600" y="1854868"/>
            <a:ext cx="914400" cy="9144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85800" y="4797152"/>
            <a:ext cx="4142993" cy="10885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Explicando a função “print”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dirty="0"/>
              <a:t>Linguagem imperativa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lang="pt-BR" dirty="0"/>
              <a:t>Comando</a:t>
            </a: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lang="pt-BR" dirty="0"/>
              <a:t>Função</a:t>
            </a:r>
            <a:endParaRPr dirty="0"/>
          </a:p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Nova linha após “print”</a:t>
            </a:r>
            <a:endParaRPr/>
          </a:p>
        </p:txBody>
      </p:sp>
      <p:sp>
        <p:nvSpPr>
          <p:cNvPr id="5" name="Retângulo 4"/>
          <p:cNvSpPr/>
          <p:nvPr/>
        </p:nvSpPr>
        <p:spPr bwMode="auto">
          <a:xfrm>
            <a:off x="1907704" y="2785427"/>
            <a:ext cx="11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latin typeface="Calibri"/>
                <a:cs typeface="Times New Roman"/>
              </a:rPr>
              <a:t>Run + Run</a:t>
            </a:r>
            <a:endParaRPr lang="pt-BR"/>
          </a:p>
        </p:txBody>
      </p:sp>
      <p:sp>
        <p:nvSpPr>
          <p:cNvPr id="6" name="Seta: para Baixo 5"/>
          <p:cNvSpPr/>
          <p:nvPr/>
        </p:nvSpPr>
        <p:spPr bwMode="auto">
          <a:xfrm>
            <a:off x="2123728" y="2348880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" name="Seta: para Baixo 6"/>
          <p:cNvSpPr/>
          <p:nvPr/>
        </p:nvSpPr>
        <p:spPr bwMode="auto">
          <a:xfrm>
            <a:off x="2123728" y="3359108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60506" y="4744096"/>
            <a:ext cx="5524270" cy="1609344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 bwMode="auto">
          <a:xfrm>
            <a:off x="827584" y="4005064"/>
            <a:ext cx="4968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pt-BR" sz="2000"/>
              <a:t>Saída:</a:t>
            </a:r>
            <a:endParaRPr/>
          </a:p>
        </p:txBody>
      </p:sp>
      <p:sp>
        <p:nvSpPr>
          <p:cNvPr id="351071140" name="CaixaDeTexto 351071139"/>
          <p:cNvSpPr txBox="1"/>
          <p:nvPr/>
        </p:nvSpPr>
        <p:spPr bwMode="auto">
          <a:xfrm>
            <a:off x="832244" y="1186587"/>
            <a:ext cx="6434545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dirty="0">
                <a:solidFill>
                  <a:srgbClr val="0070C0"/>
                </a:solidFill>
                <a:latin typeface="Arial"/>
                <a:cs typeface="Arial"/>
              </a:rPr>
              <a:t>print</a:t>
            </a:r>
            <a:r>
              <a:rPr lang="pt-BR" dirty="0">
                <a:latin typeface="Arial"/>
                <a:cs typeface="Arial"/>
              </a:rPr>
              <a:t>(‘ Alô mundo!’)</a:t>
            </a:r>
          </a:p>
          <a:p>
            <a:pPr>
              <a:defRPr/>
            </a:pPr>
            <a:endParaRPr dirty="0">
              <a:latin typeface="Arial"/>
              <a:cs typeface="Arial"/>
            </a:endParaRPr>
          </a:p>
          <a:p>
            <a:pPr>
              <a:defRPr/>
            </a:pPr>
            <a:r>
              <a:rPr lang="pt-BR" sz="1800" b="0" i="0" u="none" strike="noStrike" cap="none" spc="0" dirty="0">
                <a:solidFill>
                  <a:srgbClr val="0070C0"/>
                </a:solidFill>
                <a:latin typeface="Arial"/>
                <a:ea typeface="+mn-ea"/>
                <a:cs typeface="Arial"/>
              </a:rPr>
              <a:t>print</a:t>
            </a:r>
            <a:r>
              <a:rPr lang="pt-BR" sz="1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(‘ Um bom dia!’)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dirty="0"/>
              <a:t>Literal (string)</a:t>
            </a:r>
            <a:endParaRPr dirty="0"/>
          </a:p>
        </p:txBody>
      </p:sp>
      <p:sp>
        <p:nvSpPr>
          <p:cNvPr id="6" name="CaixaDeTexto 5"/>
          <p:cNvSpPr txBox="1"/>
          <p:nvPr/>
        </p:nvSpPr>
        <p:spPr bwMode="auto">
          <a:xfrm>
            <a:off x="827584" y="4437112"/>
            <a:ext cx="49685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pt-BR" sz="2000" dirty="0"/>
              <a:t>Saída:</a:t>
            </a:r>
            <a:endParaRPr sz="2000" dirty="0"/>
          </a:p>
          <a:p>
            <a:pPr>
              <a:defRPr/>
            </a:pPr>
            <a:endParaRPr lang="pt-BR" sz="2000" dirty="0"/>
          </a:p>
          <a:p>
            <a:pPr>
              <a:defRPr/>
            </a:pPr>
            <a:r>
              <a:rPr lang="pt-BR" sz="2000" dirty="0"/>
              <a:t>Alô Mundo! Um bom dia!</a:t>
            </a:r>
          </a:p>
          <a:p>
            <a:pPr>
              <a:defRPr/>
            </a:pPr>
            <a:endParaRPr sz="2000" dirty="0"/>
          </a:p>
        </p:txBody>
      </p:sp>
      <p:sp>
        <p:nvSpPr>
          <p:cNvPr id="1904945991" name="CaixaDeTexto 1904945990"/>
          <p:cNvSpPr txBox="1"/>
          <p:nvPr/>
        </p:nvSpPr>
        <p:spPr bwMode="auto">
          <a:xfrm>
            <a:off x="685799" y="2058368"/>
            <a:ext cx="457797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1800" b="0" i="0" u="none" strike="noStrike" cap="none" spc="0" dirty="0">
                <a:solidFill>
                  <a:srgbClr val="0070C0"/>
                </a:solidFill>
                <a:latin typeface="Arial"/>
                <a:ea typeface="+mn-ea"/>
                <a:cs typeface="Arial"/>
              </a:rPr>
              <a:t>print</a:t>
            </a:r>
            <a:r>
              <a:rPr lang="pt-BR" sz="1800" b="0" i="0" u="none" strike="noStrike" cap="none" spc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(‘ Alô mundo!’, ‘Um bom dia!’)</a:t>
            </a:r>
            <a:endParaRPr sz="1800" dirty="0">
              <a:latin typeface="Arial"/>
              <a:cs typeface="Arial"/>
            </a:endParaRPr>
          </a:p>
          <a:p>
            <a:pPr>
              <a:defRPr/>
            </a:pPr>
            <a:endParaRPr sz="1800" dirty="0">
              <a:latin typeface="Arial"/>
              <a:cs typeface="Arial"/>
            </a:endParaRPr>
          </a:p>
          <a:p>
            <a:pPr>
              <a:defRPr/>
            </a:pP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685800" y="44624"/>
            <a:ext cx="7772400" cy="720080"/>
          </a:xfrm>
        </p:spPr>
        <p:txBody>
          <a:bodyPr/>
          <a:lstStyle/>
          <a:p>
            <a:pPr>
              <a:defRPr/>
            </a:pPr>
            <a:r>
              <a:rPr lang="pt-BR" dirty="0"/>
              <a:t>“Força” nova linha (\n)</a:t>
            </a:r>
            <a:endParaRPr dirty="0"/>
          </a:p>
        </p:txBody>
      </p:sp>
      <p:sp>
        <p:nvSpPr>
          <p:cNvPr id="325930951" name="CaixaDeTexto 325930950"/>
          <p:cNvSpPr txBox="1"/>
          <p:nvPr/>
        </p:nvSpPr>
        <p:spPr bwMode="auto">
          <a:xfrm>
            <a:off x="1136242" y="1196752"/>
            <a:ext cx="5668006" cy="516250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Arial"/>
                <a:ea typeface="+mn-ea"/>
                <a:cs typeface="Arial"/>
              </a:rPr>
              <a:t>print</a:t>
            </a:r>
            <a:r>
              <a:rPr lang="pt-BR" sz="2000" b="0" i="0" u="none" strike="noStrike" cap="none" spc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(‘Alô mundo!</a:t>
            </a:r>
            <a:r>
              <a:rPr lang="pt-BR" sz="2000" b="0" i="0" u="none" strike="noStrike" cap="none" spc="0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\</a:t>
            </a:r>
            <a:r>
              <a:rPr lang="pt-BR" sz="2000" b="0" i="0" u="none" strike="noStrike" cap="none" spc="0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n</a:t>
            </a:r>
            <a:r>
              <a:rPr lang="pt-BR" sz="2000" b="0" i="0" u="none" strike="noStrike" cap="none" spc="0" dirty="0" err="1">
                <a:solidFill>
                  <a:schemeClr val="tx1"/>
                </a:solidFill>
                <a:latin typeface="Arial"/>
                <a:ea typeface="Arial"/>
                <a:cs typeface="Arial"/>
              </a:rPr>
              <a:t>Um</a:t>
            </a:r>
            <a:r>
              <a:rPr lang="pt-BR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bom dia!’)  </a:t>
            </a:r>
          </a:p>
          <a:p>
            <a:pPr>
              <a:defRPr/>
            </a:pPr>
            <a:endParaRPr lang="pt-BR" sz="2000" dirty="0"/>
          </a:p>
          <a:p>
            <a:pPr marL="285750" indent="-285750">
              <a:buFont typeface="Arial"/>
              <a:buChar char="•"/>
              <a:defRPr/>
            </a:pPr>
            <a:r>
              <a:rPr lang="pt-BR" sz="2000" dirty="0"/>
              <a:t>Saída:</a:t>
            </a:r>
          </a:p>
          <a:p>
            <a:pPr>
              <a:defRPr/>
            </a:pPr>
            <a:endParaRPr lang="pt-BR" sz="2000" dirty="0"/>
          </a:p>
          <a:p>
            <a:pPr>
              <a:defRPr/>
            </a:pPr>
            <a:r>
              <a:rPr lang="pt-BR" sz="2000" dirty="0"/>
              <a:t>Alô Mundo!</a:t>
            </a:r>
          </a:p>
          <a:p>
            <a:pPr>
              <a:defRPr/>
            </a:pPr>
            <a:r>
              <a:rPr lang="pt-BR" sz="2000" dirty="0"/>
              <a:t>Um bom dia!</a:t>
            </a:r>
          </a:p>
          <a:p>
            <a:pPr>
              <a:defRPr/>
            </a:pPr>
            <a:endParaRPr lang="pt-BR" sz="2000" dirty="0">
              <a:latin typeface="Arial"/>
              <a:cs typeface="Arial"/>
            </a:endParaRPr>
          </a:p>
          <a:p>
            <a:pPr>
              <a:defRPr/>
            </a:pPr>
            <a:endParaRPr lang="pt-BR" sz="2000" dirty="0">
              <a:latin typeface="Arial"/>
              <a:cs typeface="Arial"/>
            </a:endParaRPr>
          </a:p>
          <a:p>
            <a:pPr>
              <a:defRPr/>
            </a:pPr>
            <a:endParaRPr lang="pt-BR" sz="2000" dirty="0">
              <a:latin typeface="Arial"/>
              <a:cs typeface="Arial"/>
            </a:endParaRPr>
          </a:p>
          <a:p>
            <a:pPr>
              <a:defRPr/>
            </a:pPr>
            <a:endParaRPr lang="pt-BR" sz="2000" dirty="0">
              <a:latin typeface="Arial"/>
              <a:cs typeface="Arial"/>
            </a:endParaRP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</a:rPr>
              <a:t>print</a:t>
            </a:r>
            <a:r>
              <a:rPr lang="pt-BR" sz="2000" dirty="0">
                <a:latin typeface="Arial"/>
              </a:rPr>
              <a:t>(‘Alô mundo!</a:t>
            </a:r>
            <a:r>
              <a:rPr lang="pt-BR" sz="2000" dirty="0">
                <a:solidFill>
                  <a:srgbClr val="0070C0"/>
                </a:solidFill>
                <a:latin typeface="Arial"/>
              </a:rPr>
              <a:t> </a:t>
            </a:r>
            <a:r>
              <a:rPr lang="pt-BR" sz="2000" dirty="0">
                <a:latin typeface="Arial"/>
              </a:rPr>
              <a:t>Um bom dia!’)  </a:t>
            </a:r>
          </a:p>
          <a:p>
            <a:pPr marL="285750" indent="-285750">
              <a:buFont typeface="Arial"/>
              <a:buChar char="•"/>
              <a:defRPr/>
            </a:pPr>
            <a:endParaRPr lang="pt-BR" sz="2000" dirty="0"/>
          </a:p>
          <a:p>
            <a:pPr marL="285750" indent="-285750">
              <a:buFont typeface="Arial"/>
              <a:buChar char="•"/>
              <a:defRPr/>
            </a:pPr>
            <a:r>
              <a:rPr lang="pt-BR" sz="2000" dirty="0"/>
              <a:t>Saída:</a:t>
            </a:r>
          </a:p>
          <a:p>
            <a:pPr>
              <a:defRPr/>
            </a:pPr>
            <a:endParaRPr lang="pt-BR" sz="2000" dirty="0"/>
          </a:p>
          <a:p>
            <a:pPr>
              <a:defRPr/>
            </a:pPr>
            <a:r>
              <a:rPr lang="pt-BR" sz="2000" dirty="0"/>
              <a:t>Alô Mundo! Um bom dia!</a:t>
            </a:r>
          </a:p>
          <a:p>
            <a:pPr>
              <a:defRPr/>
            </a:pPr>
            <a:endParaRPr lang="pt-BR" sz="2000" dirty="0">
              <a:latin typeface="Arial"/>
            </a:endParaRPr>
          </a:p>
          <a:p>
            <a:pPr>
              <a:defRPr/>
            </a:pPr>
            <a:r>
              <a:rPr lang="pt-BR" sz="2000" dirty="0">
                <a:latin typeface="Arial"/>
                <a:cs typeface="Arial"/>
              </a:rPr>
              <a:t>‘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309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4334332" name="Imagem 113433433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9872" y="836712"/>
            <a:ext cx="8667749" cy="2238374"/>
          </a:xfrm>
          <a:prstGeom prst="rect">
            <a:avLst/>
          </a:prstGeom>
        </p:spPr>
      </p:pic>
      <p:sp>
        <p:nvSpPr>
          <p:cNvPr id="1633198957" name="CaixaDeTexto 1633198956"/>
          <p:cNvSpPr txBox="1"/>
          <p:nvPr/>
        </p:nvSpPr>
        <p:spPr bwMode="auto">
          <a:xfrm>
            <a:off x="349003" y="3212976"/>
            <a:ext cx="8671524" cy="976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Observe que há uma linha em branco entre o titulo da lista e os respectivos itens. Embora você possa usar vários comandos “print” para resolver este problema, sugerimos que tente fazer usando um único comando “print”.</a:t>
            </a:r>
            <a:endParaRPr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60B8DA-6DEB-432E-B53D-F5B23F3FF30C}"/>
              </a:ext>
            </a:extLst>
          </p:cNvPr>
          <p:cNvSpPr txBox="1"/>
          <p:nvPr/>
        </p:nvSpPr>
        <p:spPr bwMode="auto">
          <a:xfrm>
            <a:off x="209872" y="116632"/>
            <a:ext cx="8809935" cy="682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- Exercício 2-1: </a:t>
            </a: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Escreva um programa em Python que produza o seguinte resultado na tela:</a:t>
            </a:r>
            <a:endParaRPr sz="20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E42113-59A3-4CE2-8959-603FCC495714}"/>
              </a:ext>
            </a:extLst>
          </p:cNvPr>
          <p:cNvSpPr txBox="1"/>
          <p:nvPr/>
        </p:nvSpPr>
        <p:spPr bwMode="auto">
          <a:xfrm>
            <a:off x="755576" y="4396217"/>
            <a:ext cx="6552179" cy="976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Solução 1:</a:t>
            </a:r>
          </a:p>
          <a:p>
            <a:pPr>
              <a:defRPr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print(‘Lista de compras:</a:t>
            </a:r>
            <a:r>
              <a:rPr lang="pt-B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\n\</a:t>
            </a:r>
            <a:r>
              <a:rPr lang="pt-BR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pt-B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pt-BR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pão</a:t>
            </a:r>
            <a:r>
              <a:rPr lang="pt-B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pt-BR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19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319895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4334332" name="Imagem 113433433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9872" y="836712"/>
            <a:ext cx="8667749" cy="2238374"/>
          </a:xfrm>
          <a:prstGeom prst="rect">
            <a:avLst/>
          </a:prstGeom>
        </p:spPr>
      </p:pic>
      <p:sp>
        <p:nvSpPr>
          <p:cNvPr id="1633198957" name="CaixaDeTexto 1633198956"/>
          <p:cNvSpPr txBox="1"/>
          <p:nvPr/>
        </p:nvSpPr>
        <p:spPr bwMode="auto">
          <a:xfrm>
            <a:off x="349003" y="3212976"/>
            <a:ext cx="8671524" cy="976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Observe que há uma linha em branco entre o titulo da lista e os respectivos itens. Embora você possa usar vários comandos “print” para resolver este problema, sugerimos que tente fazer usando um único comando “print”.</a:t>
            </a:r>
            <a:endParaRPr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60B8DA-6DEB-432E-B53D-F5B23F3FF30C}"/>
              </a:ext>
            </a:extLst>
          </p:cNvPr>
          <p:cNvSpPr txBox="1"/>
          <p:nvPr/>
        </p:nvSpPr>
        <p:spPr bwMode="auto">
          <a:xfrm>
            <a:off x="209872" y="116632"/>
            <a:ext cx="8809935" cy="682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- Exercício 2-1: </a:t>
            </a: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Escreva um programa em Python que produza o seguinte resultado na tela:</a:t>
            </a:r>
            <a:endParaRPr sz="20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845ED5-FAC4-4C75-9658-BE91B8EA49DC}"/>
              </a:ext>
            </a:extLst>
          </p:cNvPr>
          <p:cNvSpPr txBox="1"/>
          <p:nvPr/>
        </p:nvSpPr>
        <p:spPr bwMode="auto">
          <a:xfrm>
            <a:off x="755576" y="4526520"/>
            <a:ext cx="6587459" cy="156677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print(‘Lista de compras’)         </a:t>
            </a:r>
            <a:r>
              <a:rPr lang="pt-BR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# Solução 2:</a:t>
            </a:r>
          </a:p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print()</a:t>
            </a:r>
          </a:p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 (‘leite’)</a:t>
            </a:r>
          </a:p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print(‘pão’)</a:t>
            </a:r>
          </a:p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print(‘café’)</a:t>
            </a:r>
          </a:p>
        </p:txBody>
      </p:sp>
    </p:spTree>
    <p:extLst>
      <p:ext uri="{BB962C8B-B14F-4D97-AF65-F5344CB8AC3E}">
        <p14:creationId xmlns:p14="http://schemas.microsoft.com/office/powerpoint/2010/main" val="333234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19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3198957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4334332" name="Imagem 113433433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9872" y="836712"/>
            <a:ext cx="8667749" cy="2238374"/>
          </a:xfrm>
          <a:prstGeom prst="rect">
            <a:avLst/>
          </a:prstGeom>
        </p:spPr>
      </p:pic>
      <p:sp>
        <p:nvSpPr>
          <p:cNvPr id="1633198957" name="CaixaDeTexto 1633198956"/>
          <p:cNvSpPr txBox="1"/>
          <p:nvPr/>
        </p:nvSpPr>
        <p:spPr bwMode="auto">
          <a:xfrm>
            <a:off x="349003" y="3212976"/>
            <a:ext cx="8671524" cy="976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Observe que há uma linha em branco entre o titulo da lista e os respectivos itens. Embora você possa usar vários comandos “print” para resolver este problema, sugerimos que tente fazer usando um único comando “print”.</a:t>
            </a:r>
            <a:endParaRPr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60B8DA-6DEB-432E-B53D-F5B23F3FF30C}"/>
              </a:ext>
            </a:extLst>
          </p:cNvPr>
          <p:cNvSpPr txBox="1"/>
          <p:nvPr/>
        </p:nvSpPr>
        <p:spPr bwMode="auto">
          <a:xfrm>
            <a:off x="209872" y="116632"/>
            <a:ext cx="8809935" cy="682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- Exercício 2-1: </a:t>
            </a: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Escreva um programa em Python que produza o seguinte resultado na tela:</a:t>
            </a:r>
            <a:endParaRPr sz="20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845ED5-FAC4-4C75-9658-BE91B8EA49DC}"/>
              </a:ext>
            </a:extLst>
          </p:cNvPr>
          <p:cNvSpPr txBox="1"/>
          <p:nvPr/>
        </p:nvSpPr>
        <p:spPr bwMode="auto">
          <a:xfrm>
            <a:off x="1080885" y="4907130"/>
            <a:ext cx="6587459" cy="6821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print(‘Lista de compras</a:t>
            </a:r>
            <a:r>
              <a:rPr lang="pt-B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\n\n</a:t>
            </a: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’)         </a:t>
            </a:r>
            <a:r>
              <a:rPr lang="pt-BR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# Solução 3:</a:t>
            </a:r>
          </a:p>
          <a:p>
            <a:pPr>
              <a:defRPr/>
            </a:pP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print (‘leite\</a:t>
            </a:r>
            <a:r>
              <a:rPr lang="pt-BR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npão</a:t>
            </a: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\</a:t>
            </a:r>
            <a:r>
              <a:rPr lang="pt-BR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ncafé</a:t>
            </a:r>
            <a:r>
              <a:rPr lang="pt-BR" sz="2000" dirty="0">
                <a:solidFill>
                  <a:schemeClr val="tx1"/>
                </a:solidFill>
                <a:latin typeface="Times New Roman"/>
                <a:cs typeface="Times New Roman"/>
              </a:rPr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124852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19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3198957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Expressões com números inteiros</a:t>
            </a:r>
            <a:endParaRPr/>
          </a:p>
        </p:txBody>
      </p:sp>
      <p:sp>
        <p:nvSpPr>
          <p:cNvPr id="6" name="CaixaDeTexto 5"/>
          <p:cNvSpPr txBox="1"/>
          <p:nvPr/>
        </p:nvSpPr>
        <p:spPr bwMode="auto">
          <a:xfrm>
            <a:off x="3707904" y="2416640"/>
            <a:ext cx="421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BR" dirty="0"/>
              <a:t>- Qual operação é realizada primeiro?</a:t>
            </a:r>
            <a:endParaRPr dirty="0"/>
          </a:p>
        </p:txBody>
      </p:sp>
      <p:sp>
        <p:nvSpPr>
          <p:cNvPr id="8" name="CaixaDeTexto 7"/>
          <p:cNvSpPr txBox="1"/>
          <p:nvPr/>
        </p:nvSpPr>
        <p:spPr bwMode="auto">
          <a:xfrm>
            <a:off x="3824339" y="4233862"/>
            <a:ext cx="421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BR" dirty="0"/>
              <a:t>- Qual operação é realizada primeiro?</a:t>
            </a:r>
            <a:endParaRPr dirty="0"/>
          </a:p>
        </p:txBody>
      </p:sp>
      <p:sp>
        <p:nvSpPr>
          <p:cNvPr id="9" name="CaixaDeTexto 8"/>
          <p:cNvSpPr txBox="1"/>
          <p:nvPr/>
        </p:nvSpPr>
        <p:spPr bwMode="auto">
          <a:xfrm>
            <a:off x="3824339" y="3096070"/>
            <a:ext cx="2122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pt-BR" dirty="0"/>
              <a:t>A multiplicação</a:t>
            </a:r>
          </a:p>
          <a:p>
            <a:pPr marL="285750" indent="-285750">
              <a:buFontTx/>
              <a:buChar char="-"/>
              <a:defRPr/>
            </a:pPr>
            <a:r>
              <a:rPr lang="pt-BR" dirty="0"/>
              <a:t>Saída: 47 </a:t>
            </a:r>
            <a:endParaRPr dirty="0"/>
          </a:p>
        </p:txBody>
      </p:sp>
      <p:sp>
        <p:nvSpPr>
          <p:cNvPr id="10" name="CaixaDeTexto 9"/>
          <p:cNvSpPr txBox="1"/>
          <p:nvPr/>
        </p:nvSpPr>
        <p:spPr bwMode="auto">
          <a:xfrm>
            <a:off x="3976738" y="4881934"/>
            <a:ext cx="14830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pt-BR" dirty="0"/>
              <a:t>A soma</a:t>
            </a:r>
          </a:p>
          <a:p>
            <a:pPr marL="285750" indent="-285750">
              <a:buFontTx/>
              <a:buChar char="-"/>
              <a:defRPr/>
            </a:pPr>
            <a:r>
              <a:rPr lang="pt-BR" dirty="0"/>
              <a:t>Saída: 63 </a:t>
            </a:r>
          </a:p>
          <a:p>
            <a:pPr marL="285750" indent="-285750">
              <a:buFontTx/>
              <a:buChar char="-"/>
              <a:defRPr/>
            </a:pPr>
            <a:endParaRPr dirty="0"/>
          </a:p>
        </p:txBody>
      </p:sp>
      <p:sp>
        <p:nvSpPr>
          <p:cNvPr id="2100278132" name="CaixaDeTexto 2100278131"/>
          <p:cNvSpPr txBox="1"/>
          <p:nvPr/>
        </p:nvSpPr>
        <p:spPr bwMode="auto">
          <a:xfrm>
            <a:off x="685799" y="1628800"/>
            <a:ext cx="168885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print </a:t>
            </a:r>
            <a:r>
              <a:rPr lang="pt-BR" dirty="0">
                <a:latin typeface="Times New Roman"/>
                <a:cs typeface="Times New Roman"/>
              </a:rPr>
              <a:t>(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345</a:t>
            </a:r>
            <a:r>
              <a:rPr lang="pt-BR" dirty="0">
                <a:latin typeface="Times New Roman"/>
                <a:cs typeface="Times New Roman"/>
              </a:rPr>
              <a:t>)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161566369" name="CaixaDeTexto 1161566368"/>
          <p:cNvSpPr txBox="1"/>
          <p:nvPr/>
        </p:nvSpPr>
        <p:spPr bwMode="auto">
          <a:xfrm>
            <a:off x="685800" y="2785971"/>
            <a:ext cx="212070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print </a:t>
            </a:r>
            <a:r>
              <a:rPr lang="pt-BR" dirty="0">
                <a:latin typeface="Times New Roman"/>
                <a:cs typeface="Times New Roman"/>
              </a:rPr>
              <a:t>(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2 </a:t>
            </a:r>
            <a:r>
              <a:rPr lang="pt-BR" dirty="0">
                <a:latin typeface="Times New Roman"/>
                <a:cs typeface="Times New Roman"/>
              </a:rPr>
              <a:t>+ 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5 </a:t>
            </a:r>
            <a:r>
              <a:rPr lang="pt-BR" dirty="0">
                <a:latin typeface="Times New Roman"/>
                <a:cs typeface="Times New Roman"/>
              </a:rPr>
              <a:t>* 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9</a:t>
            </a:r>
            <a:r>
              <a:rPr lang="pt-BR" dirty="0">
                <a:latin typeface="Times New Roman"/>
                <a:cs typeface="Times New Roman"/>
              </a:rPr>
              <a:t>)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2120542181" name="CaixaDeTexto 2120542180"/>
          <p:cNvSpPr txBox="1"/>
          <p:nvPr/>
        </p:nvSpPr>
        <p:spPr bwMode="auto">
          <a:xfrm>
            <a:off x="685800" y="4418527"/>
            <a:ext cx="2514431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print </a:t>
            </a:r>
            <a:r>
              <a:rPr lang="pt-BR" dirty="0">
                <a:latin typeface="Times New Roman"/>
                <a:cs typeface="Times New Roman"/>
              </a:rPr>
              <a:t>( (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2 </a:t>
            </a:r>
            <a:r>
              <a:rPr lang="pt-BR" dirty="0">
                <a:latin typeface="Times New Roman"/>
                <a:cs typeface="Times New Roman"/>
              </a:rPr>
              <a:t>+ 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5</a:t>
            </a:r>
            <a:r>
              <a:rPr lang="pt-BR" dirty="0">
                <a:latin typeface="Times New Roman"/>
                <a:cs typeface="Times New Roman"/>
              </a:rPr>
              <a:t>) * </a:t>
            </a:r>
            <a:r>
              <a:rPr lang="pt-BR" dirty="0">
                <a:solidFill>
                  <a:srgbClr val="0070C0"/>
                </a:solidFill>
                <a:latin typeface="Times New Roman"/>
                <a:cs typeface="Times New Roman"/>
              </a:rPr>
              <a:t>9</a:t>
            </a:r>
            <a:r>
              <a:rPr lang="pt-BR" dirty="0">
                <a:latin typeface="Times New Roman"/>
                <a:cs typeface="Times New Roman"/>
              </a:rPr>
              <a:t>)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685800" y="260648"/>
            <a:ext cx="7772400" cy="640112"/>
          </a:xfrm>
        </p:spPr>
        <p:txBody>
          <a:bodyPr/>
          <a:lstStyle/>
          <a:p>
            <a:pPr>
              <a:defRPr/>
            </a:pPr>
            <a:r>
              <a:rPr lang="pt-BR" dirty="0"/>
              <a:t>Número x Literal (String)</a:t>
            </a:r>
            <a:endParaRPr dirty="0"/>
          </a:p>
        </p:txBody>
      </p:sp>
      <p:sp>
        <p:nvSpPr>
          <p:cNvPr id="6" name="CaixaDeTexto 5"/>
          <p:cNvSpPr txBox="1"/>
          <p:nvPr/>
        </p:nvSpPr>
        <p:spPr bwMode="auto">
          <a:xfrm>
            <a:off x="1043608" y="2348880"/>
            <a:ext cx="4968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Saída: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  <a:defRPr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+ 5 * 9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 bwMode="auto">
          <a:xfrm>
            <a:off x="1115616" y="4789601"/>
            <a:ext cx="4968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Saída: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  <a:defRPr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+ 5 * 9 = 47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3610404" name="CaixaDeTexto 993610403"/>
          <p:cNvSpPr txBox="1"/>
          <p:nvPr/>
        </p:nvSpPr>
        <p:spPr bwMode="auto">
          <a:xfrm>
            <a:off x="1115615" y="1808135"/>
            <a:ext cx="2035800" cy="38722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print(‘2 + 5 * 9’)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0788173" name="CaixaDeTexto 1180788172"/>
          <p:cNvSpPr txBox="1"/>
          <p:nvPr/>
        </p:nvSpPr>
        <p:spPr bwMode="auto">
          <a:xfrm>
            <a:off x="1115615" y="3890720"/>
            <a:ext cx="4020800" cy="6821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0" i="0" u="none" strike="noStrike" cap="none" spc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print(‘2 + 5 * 9 = ’, 2 + 5 * 9)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017321"/>
              </p:ext>
            </p:extLst>
          </p:nvPr>
        </p:nvGraphicFramePr>
        <p:xfrm>
          <a:off x="685801" y="2348880"/>
          <a:ext cx="7774631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dirty="0"/>
                        <a:t>Passo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dirty="0"/>
                        <a:t>Expressão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dirty="0"/>
                        <a:t>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dirty="0"/>
                        <a:t>2 + 2 – 2 * 2 + ( 2 – 2 * ( 2 + 2 ) )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148268"/>
              </p:ext>
            </p:extLst>
          </p:nvPr>
        </p:nvGraphicFramePr>
        <p:xfrm>
          <a:off x="685801" y="3212976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2 + 2 – 2 * 2 + ( 2 – 2 * 4 )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656561"/>
              </p:ext>
            </p:extLst>
          </p:nvPr>
        </p:nvGraphicFramePr>
        <p:xfrm>
          <a:off x="685801" y="3645024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dirty="0"/>
                        <a:t>2 + 2 – 2 * 2 + ( 2 – 8)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766207"/>
              </p:ext>
            </p:extLst>
          </p:nvPr>
        </p:nvGraphicFramePr>
        <p:xfrm>
          <a:off x="685801" y="4077072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2 + 2 – 2 * 2 - 6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63959"/>
              </p:ext>
            </p:extLst>
          </p:nvPr>
        </p:nvGraphicFramePr>
        <p:xfrm>
          <a:off x="685801" y="4509120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2 + 2 – 4 - 6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877868"/>
              </p:ext>
            </p:extLst>
          </p:nvPr>
        </p:nvGraphicFramePr>
        <p:xfrm>
          <a:off x="685801" y="5013175"/>
          <a:ext cx="7774631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4 – 4 - 6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212040"/>
              </p:ext>
            </p:extLst>
          </p:nvPr>
        </p:nvGraphicFramePr>
        <p:xfrm>
          <a:off x="685801" y="5517232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0 – 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365787"/>
              </p:ext>
            </p:extLst>
          </p:nvPr>
        </p:nvGraphicFramePr>
        <p:xfrm>
          <a:off x="685801" y="6082496"/>
          <a:ext cx="777463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/>
                        <a:t>- 6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03424734" name="CaixaDeTexto 2103424733"/>
          <p:cNvSpPr txBox="1"/>
          <p:nvPr/>
        </p:nvSpPr>
        <p:spPr bwMode="auto">
          <a:xfrm>
            <a:off x="323528" y="221561"/>
            <a:ext cx="8386504" cy="156677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Exercício 2-2: Quanto vale a expressão 2+2-2*2+(2-2*(2+2))?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Usando as regras de precedência que vimos até aqui calcule o resultado com lápis e papel.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Depois faça um programa Python e execute-o para verificar se </a:t>
            </a: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o </a:t>
            </a: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resultado estava correto.</a:t>
            </a:r>
            <a:endParaRPr lang="pt-BR"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504868048" name="CaixaDeTexto 504868047"/>
          <p:cNvSpPr txBox="1"/>
          <p:nvPr/>
        </p:nvSpPr>
        <p:spPr bwMode="auto">
          <a:xfrm>
            <a:off x="912965" y="1844824"/>
            <a:ext cx="570029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 dirty="0">
                <a:solidFill>
                  <a:srgbClr val="0070C0"/>
                </a:solidFill>
                <a:latin typeface="Rockwell"/>
                <a:cs typeface="Rockwell"/>
              </a:rPr>
              <a:t>print (2+2-2*2+ (2-2* (2+2) ) )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dirty="0"/>
              <a:t>Expressões com números de ponto flutuante</a:t>
            </a:r>
            <a:endParaRPr dirty="0"/>
          </a:p>
        </p:txBody>
      </p:sp>
      <p:sp>
        <p:nvSpPr>
          <p:cNvPr id="5" name="Retângulo 4"/>
          <p:cNvSpPr/>
          <p:nvPr/>
        </p:nvSpPr>
        <p:spPr bwMode="auto">
          <a:xfrm>
            <a:off x="1732116" y="2905205"/>
            <a:ext cx="11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latin typeface="Calibri"/>
                <a:cs typeface="Times New Roman"/>
              </a:rPr>
              <a:t>Run + Run</a:t>
            </a:r>
            <a:endParaRPr lang="pt-BR"/>
          </a:p>
        </p:txBody>
      </p:sp>
      <p:sp>
        <p:nvSpPr>
          <p:cNvPr id="6" name="Seta: para Baixo 5"/>
          <p:cNvSpPr/>
          <p:nvPr/>
        </p:nvSpPr>
        <p:spPr bwMode="auto">
          <a:xfrm>
            <a:off x="2123727" y="2283992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" name="Seta: para Baixo 6"/>
          <p:cNvSpPr/>
          <p:nvPr/>
        </p:nvSpPr>
        <p:spPr bwMode="auto">
          <a:xfrm>
            <a:off x="2123728" y="3478887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827584" y="4278150"/>
            <a:ext cx="777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>
                <a:latin typeface="Calibri"/>
                <a:cs typeface="Times New Roman"/>
              </a:rPr>
              <a:t>		    2.4</a:t>
            </a:r>
          </a:p>
          <a:p>
            <a:pPr>
              <a:defRPr/>
            </a:pPr>
            <a:endParaRPr lang="pt-BR" sz="2400" dirty="0">
              <a:latin typeface="Calibri"/>
              <a:cs typeface="Times New Roman"/>
            </a:endParaRPr>
          </a:p>
          <a:p>
            <a:pPr>
              <a:defRPr/>
            </a:pPr>
            <a:r>
              <a:rPr lang="pt-BR" sz="2400" dirty="0">
                <a:latin typeface="Calibri"/>
                <a:cs typeface="Times New Roman"/>
              </a:rPr>
              <a:t>- Obs.: </a:t>
            </a:r>
          </a:p>
          <a:p>
            <a:pPr>
              <a:defRPr/>
            </a:pPr>
            <a:endParaRPr lang="pt-BR" sz="2400" dirty="0">
              <a:latin typeface="Calibri"/>
              <a:cs typeface="Times New Roman"/>
            </a:endParaRPr>
          </a:p>
          <a:p>
            <a:pPr>
              <a:defRPr/>
            </a:pPr>
            <a:r>
              <a:rPr lang="pt-BR" sz="2400" dirty="0">
                <a:latin typeface="Calibri"/>
                <a:cs typeface="Times New Roman"/>
              </a:rPr>
              <a:t>- As linguagens de programação usam notação americana com ponto decimal. </a:t>
            </a:r>
            <a:endParaRPr lang="pt-BR" sz="2400" dirty="0"/>
          </a:p>
        </p:txBody>
      </p:sp>
      <p:sp>
        <p:nvSpPr>
          <p:cNvPr id="42478588" name="CaixaDeTexto 42478587"/>
          <p:cNvSpPr txBox="1"/>
          <p:nvPr/>
        </p:nvSpPr>
        <p:spPr bwMode="auto">
          <a:xfrm>
            <a:off x="1631377" y="1628800"/>
            <a:ext cx="257734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print 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12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/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5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endParaRPr sz="2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685800" y="116632"/>
            <a:ext cx="7772400" cy="720080"/>
          </a:xfrm>
        </p:spPr>
        <p:txBody>
          <a:bodyPr/>
          <a:lstStyle/>
          <a:p>
            <a:pPr>
              <a:defRPr/>
            </a:pPr>
            <a:r>
              <a:rPr lang="pt-BR" dirty="0"/>
              <a:t>Ponto decimal (notação americana)</a:t>
            </a:r>
            <a:endParaRPr dirty="0"/>
          </a:p>
        </p:txBody>
      </p:sp>
      <p:sp>
        <p:nvSpPr>
          <p:cNvPr id="1045234572" name="Content Placeholder 2"/>
          <p:cNvSpPr>
            <a:spLocks noGrp="1"/>
          </p:cNvSpPr>
          <p:nvPr>
            <p:ph idx="1"/>
          </p:nvPr>
        </p:nvSpPr>
        <p:spPr bwMode="auto">
          <a:xfrm>
            <a:off x="1192088" y="1052736"/>
            <a:ext cx="7052320" cy="5008059"/>
          </a:xfrm>
        </p:spPr>
        <p:txBody>
          <a:bodyPr>
            <a:normAutofit/>
          </a:bodyPr>
          <a:lstStyle/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print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12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5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/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4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endParaRPr sz="22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endParaRPr lang="pt-BR" sz="22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>
              <a:buFontTx/>
              <a:buChar char="-"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Qual a saída?</a:t>
            </a:r>
          </a:p>
          <a:p>
            <a:pPr marL="0" indent="0">
              <a:buNone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   3.125</a:t>
            </a: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endParaRPr lang="pt-BR" sz="22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endParaRPr sz="22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print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12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5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/</a:t>
            </a: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4</a:t>
            </a:r>
            <a:r>
              <a:rPr lang="pt-BR" sz="2200" dirty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endParaRPr lang="pt-BR" sz="2200" dirty="0">
              <a:latin typeface="Times New Roman"/>
              <a:cs typeface="Times New Roman"/>
            </a:endParaRPr>
          </a:p>
          <a:p>
            <a:pPr>
              <a:buFontTx/>
              <a:buChar char="-"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Qual a saída?</a:t>
            </a:r>
          </a:p>
          <a:p>
            <a:pPr>
              <a:buClr>
                <a:schemeClr val="accent1">
                  <a:lumMod val="75000"/>
                </a:schemeClr>
              </a:buClr>
              <a:buSzPct val="85000"/>
              <a:buFontTx/>
              <a:buChar char="-"/>
              <a:defRPr/>
            </a:pPr>
            <a:endParaRPr lang="pt-BR" sz="22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SzPct val="85000"/>
              <a:buNone/>
              <a:defRPr/>
            </a:pPr>
            <a:r>
              <a:rPr lang="pt-BR" sz="2200" dirty="0">
                <a:solidFill>
                  <a:srgbClr val="0070C0"/>
                </a:solidFill>
                <a:latin typeface="Times New Roman"/>
                <a:cs typeface="Times New Roman"/>
              </a:rPr>
              <a:t>   12 1.25</a:t>
            </a:r>
            <a:endParaRPr sz="22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34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34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34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345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Aproximação</a:t>
            </a:r>
            <a:endParaRPr/>
          </a:p>
        </p:txBody>
      </p:sp>
      <p:sp>
        <p:nvSpPr>
          <p:cNvPr id="5" name="Retângulo 4"/>
          <p:cNvSpPr/>
          <p:nvPr/>
        </p:nvSpPr>
        <p:spPr bwMode="auto">
          <a:xfrm>
            <a:off x="1907704" y="3129978"/>
            <a:ext cx="11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latin typeface="Calibri"/>
                <a:cs typeface="Times New Roman"/>
              </a:rPr>
              <a:t>Run + Run</a:t>
            </a:r>
            <a:endParaRPr lang="pt-BR"/>
          </a:p>
        </p:txBody>
      </p:sp>
      <p:sp>
        <p:nvSpPr>
          <p:cNvPr id="6" name="Seta: para Baixo 5"/>
          <p:cNvSpPr/>
          <p:nvPr/>
        </p:nvSpPr>
        <p:spPr bwMode="auto">
          <a:xfrm>
            <a:off x="2123728" y="2693432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" name="Seta: para Baixo 6"/>
          <p:cNvSpPr/>
          <p:nvPr/>
        </p:nvSpPr>
        <p:spPr bwMode="auto">
          <a:xfrm>
            <a:off x="2123728" y="3703660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CaixaDeTexto 8"/>
          <p:cNvSpPr txBox="1"/>
          <p:nvPr/>
        </p:nvSpPr>
        <p:spPr bwMode="auto">
          <a:xfrm>
            <a:off x="4716016" y="4371357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BR"/>
              <a:t>+/- 16 casas decimais</a:t>
            </a:r>
            <a:endParaRPr/>
          </a:p>
        </p:txBody>
      </p:sp>
      <p:sp>
        <p:nvSpPr>
          <p:cNvPr id="899257058" name="CaixaDeTexto 899257057"/>
          <p:cNvSpPr txBox="1"/>
          <p:nvPr/>
        </p:nvSpPr>
        <p:spPr bwMode="auto">
          <a:xfrm>
            <a:off x="1268135" y="4371356"/>
            <a:ext cx="398023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 dirty="0">
                <a:solidFill>
                  <a:schemeClr val="tx1"/>
                </a:solidFill>
                <a:latin typeface="Rockwell"/>
                <a:cs typeface="Rockwell"/>
              </a:rPr>
              <a:t>0.6666666666666666</a:t>
            </a:r>
            <a:endParaRPr dirty="0"/>
          </a:p>
        </p:txBody>
      </p:sp>
      <p:sp>
        <p:nvSpPr>
          <p:cNvPr id="2013877816" name="CaixaDeTexto 2013877815"/>
          <p:cNvSpPr txBox="1"/>
          <p:nvPr/>
        </p:nvSpPr>
        <p:spPr bwMode="auto">
          <a:xfrm>
            <a:off x="1645215" y="2060848"/>
            <a:ext cx="1668598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1" i="0" dirty="0">
                <a:latin typeface="Times New Roman"/>
                <a:cs typeface="Times New Roman"/>
              </a:rPr>
              <a:t>print (2/3)</a:t>
            </a:r>
            <a:endParaRPr sz="2000" b="1" i="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/>
              <a:t>Divisão sempre produz número de ponto flutuante</a:t>
            </a:r>
            <a:endParaRPr/>
          </a:p>
        </p:txBody>
      </p:sp>
      <p:sp>
        <p:nvSpPr>
          <p:cNvPr id="5" name="Retângulo 4"/>
          <p:cNvSpPr/>
          <p:nvPr/>
        </p:nvSpPr>
        <p:spPr bwMode="auto">
          <a:xfrm>
            <a:off x="1907704" y="3496214"/>
            <a:ext cx="13131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Run + Run</a:t>
            </a:r>
          </a:p>
        </p:txBody>
      </p:sp>
      <p:sp>
        <p:nvSpPr>
          <p:cNvPr id="6" name="Seta: para Baixo 5"/>
          <p:cNvSpPr/>
          <p:nvPr/>
        </p:nvSpPr>
        <p:spPr bwMode="auto">
          <a:xfrm>
            <a:off x="2123728" y="3059668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eta: para Baixo 6"/>
          <p:cNvSpPr/>
          <p:nvPr/>
        </p:nvSpPr>
        <p:spPr bwMode="auto">
          <a:xfrm>
            <a:off x="2123728" y="4069896"/>
            <a:ext cx="360040" cy="36933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0617430" name="CaixaDeTexto 360617429"/>
          <p:cNvSpPr txBox="1"/>
          <p:nvPr/>
        </p:nvSpPr>
        <p:spPr bwMode="auto">
          <a:xfrm>
            <a:off x="1663736" y="2445825"/>
            <a:ext cx="1640062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1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print(10/2)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9162801" name="CaixaDeTexto 1629162800"/>
          <p:cNvSpPr txBox="1"/>
          <p:nvPr/>
        </p:nvSpPr>
        <p:spPr bwMode="auto">
          <a:xfrm>
            <a:off x="1997655" y="4657562"/>
            <a:ext cx="612183" cy="38722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162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 bwMode="auto">
          <a:xfrm>
            <a:off x="827584" y="3212976"/>
            <a:ext cx="64087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- Resolva com estes valores para o peso e a altura:</a:t>
            </a:r>
            <a:endParaRPr dirty="0"/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/>
              <a:t>Peso = 83 Kg</a:t>
            </a:r>
            <a:endParaRPr dirty="0"/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/>
              <a:t>Altura = 1.79 m</a:t>
            </a:r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3782395-844C-45AA-BB49-066814766488}"/>
              </a:ext>
            </a:extLst>
          </p:cNvPr>
          <p:cNvSpPr txBox="1"/>
          <p:nvPr/>
        </p:nvSpPr>
        <p:spPr bwMode="auto">
          <a:xfrm>
            <a:off x="182699" y="116632"/>
            <a:ext cx="8709781" cy="2451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- Exercício 2-3: Escreva um programa que imprima o valor do seu índice de massa corporal (IMC) em kg, lembre-se que o IMC é calculado pela fórmula , onde o peso é dado em quilos e a altura em metros, 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- Dica: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Numerador = peso</a:t>
            </a: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Denominador = altura * altura</a:t>
            </a:r>
            <a:endParaRPr lang="pt-BR" sz="2000" b="0" i="0" u="none" strike="noStrike" cap="none" spc="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É o peso dividido pela altura ao quadrado.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Para calcular potência, use a expressão x * x, ou seja, altura * altura.</a:t>
            </a:r>
            <a:endParaRPr lang="pt-BR"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E0A6FB1-99DC-4FF4-8624-01CC03B21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444209" y="836711"/>
            <a:ext cx="2304256" cy="13096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28650" name="Content Placeholder 2"/>
          <p:cNvSpPr>
            <a:spLocks noGrp="1"/>
          </p:cNvSpPr>
          <p:nvPr>
            <p:ph idx="1"/>
          </p:nvPr>
        </p:nvSpPr>
        <p:spPr bwMode="auto">
          <a:xfrm>
            <a:off x="539552" y="3806397"/>
            <a:ext cx="8016678" cy="300697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72500" lnSpcReduction="20000"/>
          </a:bodyPr>
          <a:lstStyle/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1. </a:t>
            </a:r>
            <a:r>
              <a:rPr lang="pt-BR" sz="22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Esquecer que a divisão e multiplicação têm ambos a mesma precedência e que são</a:t>
            </a:r>
            <a:endParaRPr lang="pt-BR" sz="22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executados da esquerda para a direita. Assim, se você esquecer os parênteses e</a:t>
            </a:r>
            <a:endParaRPr lang="pt-BR" sz="22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escrever print(83/1.79*1.79) vai obter como resultado 83, ou seja, o peso original, já</a:t>
            </a:r>
            <a:endParaRPr lang="pt-BR" sz="22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2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que ele será primeiro dividido pela altura e depois multiplicado pela altura novamente.</a:t>
            </a:r>
            <a:endParaRPr lang="pt-BR" sz="22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just">
              <a:defRPr/>
            </a:pPr>
            <a:endParaRPr lang="pt-BR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4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2.</a:t>
            </a:r>
            <a:r>
              <a:rPr lang="pt-BR" sz="24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Trocar o ponto decimal por vírgula, como em print(83/(1,79*1,79)) ou</a:t>
            </a:r>
            <a:endParaRPr lang="pt-BR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4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print(83/1,79*1,79). No primeiro caso, o programa dará erro pois as vírgulas estão</a:t>
            </a:r>
            <a:endParaRPr lang="pt-BR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4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dentro dos parênteses da expressão numérica e não separando argumentos. No</a:t>
            </a:r>
            <a:endParaRPr lang="pt-BR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2400" b="0" i="0" u="none" strike="noStrike" cap="none" spc="0" dirty="0">
                <a:solidFill>
                  <a:schemeClr val="tx1"/>
                </a:solidFill>
                <a:latin typeface="Times New Roman"/>
                <a:ea typeface="Rockwell"/>
                <a:cs typeface="Times New Roman"/>
              </a:rPr>
              <a:t>segundo caso o resultado seria 83.0 79 79, ou seja, 83/1, 79* I e 79,</a:t>
            </a:r>
            <a:endParaRPr lang="pt-BR" sz="2400" dirty="0">
              <a:latin typeface="Times New Roman"/>
              <a:cs typeface="Times New Roman"/>
            </a:endParaRPr>
          </a:p>
        </p:txBody>
      </p:sp>
      <p:sp>
        <p:nvSpPr>
          <p:cNvPr id="1677148735" name="CaixaDeTexto 1677148734"/>
          <p:cNvSpPr txBox="1"/>
          <p:nvPr/>
        </p:nvSpPr>
        <p:spPr bwMode="auto">
          <a:xfrm>
            <a:off x="758157" y="3460745"/>
            <a:ext cx="4941524" cy="32829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indent="0" algn="just">
              <a:buClr>
                <a:schemeClr val="accent1">
                  <a:lumMod val="75000"/>
                </a:schemeClr>
              </a:buClr>
              <a:buSzPct val="85000"/>
              <a:buFont typeface="Wingdings"/>
              <a:buNone/>
              <a:defRPr/>
            </a:pPr>
            <a:r>
              <a:rPr lang="pt-BR" sz="16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 Erros comuns que você pode ter cometido:</a:t>
            </a:r>
            <a:endParaRPr lang="pt-BR" sz="16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296079809" name="CaixaDeTexto 1296079808"/>
          <p:cNvSpPr txBox="1"/>
          <p:nvPr/>
        </p:nvSpPr>
        <p:spPr bwMode="auto">
          <a:xfrm>
            <a:off x="669365" y="2432695"/>
            <a:ext cx="7503036" cy="5642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16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Supondo que seu peso seja 83 kg e sua altura 1.79m, o programa a seguir vai informar que seu IMC é igual a 25.90431010268094: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012109684" name="CaixaDeTexto 2012109683"/>
          <p:cNvSpPr txBox="1"/>
          <p:nvPr/>
        </p:nvSpPr>
        <p:spPr bwMode="auto">
          <a:xfrm>
            <a:off x="755576" y="3093361"/>
            <a:ext cx="68739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6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print (83/ (1.79</a:t>
            </a:r>
            <a:r>
              <a:rPr lang="pt-BR" sz="1600" b="0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  <a:t>*</a:t>
            </a:r>
            <a:r>
              <a:rPr lang="en-US" sz="16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1.79)</a:t>
            </a:r>
            <a:r>
              <a:rPr lang="pt-BR" sz="16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sz="16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)</a:t>
            </a:r>
            <a:endParaRPr sz="16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1E9AE3-C3D2-40AE-9FAB-A2F28FE6CB92}"/>
              </a:ext>
            </a:extLst>
          </p:cNvPr>
          <p:cNvSpPr txBox="1"/>
          <p:nvPr/>
        </p:nvSpPr>
        <p:spPr bwMode="auto">
          <a:xfrm>
            <a:off x="182699" y="44624"/>
            <a:ext cx="8709781" cy="2451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- Exercício 2-3: Escreva um programa que imprima o valor do seu índice de massa corporal (IMC) em kg, lembre-se que o IMC é calculado pela fórmula , onde o peso é dado em quilos e a altura em metros, 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- Dica: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Numerador = peso</a:t>
            </a:r>
          </a:p>
          <a:p>
            <a:pPr>
              <a:defRPr/>
            </a:pPr>
            <a:r>
              <a:rPr lang="pt-BR" sz="2000" dirty="0">
                <a:solidFill>
                  <a:srgbClr val="0070C0"/>
                </a:solidFill>
                <a:latin typeface="Times New Roman"/>
                <a:cs typeface="Times New Roman"/>
              </a:rPr>
              <a:t>Denominador = altura * altura</a:t>
            </a:r>
            <a:endParaRPr lang="pt-BR" sz="2000" b="0" i="0" u="none" strike="noStrike" cap="none" spc="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É o peso dividido pela altura ao quadrado.</a:t>
            </a:r>
          </a:p>
          <a:p>
            <a:pPr>
              <a:defRPr/>
            </a:pPr>
            <a:r>
              <a:rPr lang="pt-BR" sz="2000" b="0" i="0" u="none" strike="noStrike" cap="none" spc="0" dirty="0">
                <a:solidFill>
                  <a:srgbClr val="0070C0"/>
                </a:solidFill>
                <a:latin typeface="Times New Roman"/>
                <a:cs typeface="Times New Roman"/>
              </a:rPr>
              <a:t>Para calcular potência, use a expressão x * x, ou seja, altura * altura.</a:t>
            </a:r>
            <a:endParaRPr lang="pt-BR" sz="20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3A81FDC-FBDD-4305-A98F-7D2EF013B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444209" y="836711"/>
            <a:ext cx="2304256" cy="13096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Tópicos vistos neste capítulo</a:t>
            </a:r>
            <a:endParaRPr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395536" y="1628800"/>
            <a:ext cx="8333972" cy="48965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>
            <a:extLst>
              <a:ext uri="{FF2B5EF4-FFF2-40B4-BE49-F238E27FC236}">
                <a16:creationId xmlns:a16="http://schemas.microsoft.com/office/drawing/2014/main" id="{FF1DF28B-2733-4C94-9875-C96686000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564" y="908720"/>
            <a:ext cx="7772400" cy="5949280"/>
          </a:xfrm>
        </p:spPr>
        <p:txBody>
          <a:bodyPr>
            <a:normAutofit lnSpcReduction="10000"/>
          </a:bodyPr>
          <a:lstStyle/>
          <a:p>
            <a:pPr marL="431800" indent="-342900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Bibliografia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8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WAZLAWICK, Raul Sidnei. Introdução a algoritmos e programação com Python: uma abordagem dirigida por testes. Rio de Janeiro: Elsevier, 2018.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MINHA BIBLIOTECA</a:t>
            </a:r>
          </a:p>
          <a:p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alt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.: 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livro consta da biblioteca digital do CEUB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plataforma MINHA BIBLIOTECA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Acesse pelo Espaço Aluno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do capítulo 2 do livro</a:t>
            </a:r>
          </a:p>
          <a:p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2A705DE-535A-461A-BCF4-5A89627FD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640112"/>
          </a:xfrm>
        </p:spPr>
        <p:txBody>
          <a:bodyPr/>
          <a:lstStyle/>
          <a:p>
            <a:pPr eaLnBrk="1" hangingPunct="1"/>
            <a:r>
              <a:rPr lang="pt-BR" altLang="pt-BR" b="1" dirty="0"/>
              <a:t>Referências</a:t>
            </a:r>
            <a:endParaRPr lang="pt-BR" altLang="pt-BR" dirty="0"/>
          </a:p>
        </p:txBody>
      </p:sp>
      <p:pic>
        <p:nvPicPr>
          <p:cNvPr id="4" name="Imagem 3" descr="Introdução a Algoritmos e Programação com Python: Uma Abordagem Dirigida por Testes">
            <a:extLst>
              <a:ext uri="{FF2B5EF4-FFF2-40B4-BE49-F238E27FC236}">
                <a16:creationId xmlns:a16="http://schemas.microsoft.com/office/drawing/2014/main" id="{AB4BECD8-9083-468B-955E-69F2D1C9EB3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132856"/>
            <a:ext cx="2232248" cy="2448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4440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Tipo de Madeira">
  <a:themeElements>
    <a:clrScheme name="Tipo de Madei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Tipo de Madeira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ipo de Madeira">
  <a:themeElements>
    <a:clrScheme name="Tipo de Madei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o de Madei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TM03090434[[fn=Tipo de Madeira]]</Template>
  <TotalTime>16144</TotalTime>
  <Words>1112</Words>
  <Application>Microsoft Office PowerPoint</Application>
  <DocSecurity>0</DocSecurity>
  <PresentationFormat>Apresentação na tela (4:3)</PresentationFormat>
  <Paragraphs>215</Paragraphs>
  <Slides>25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Arial</vt:lpstr>
      <vt:lpstr>Calibri</vt:lpstr>
      <vt:lpstr>Rockwell</vt:lpstr>
      <vt:lpstr>Rockwell Condensed</vt:lpstr>
      <vt:lpstr>Times New Roman</vt:lpstr>
      <vt:lpstr>Wingdings</vt:lpstr>
      <vt:lpstr>Tipo de Madeira</vt:lpstr>
      <vt:lpstr>1_Tipo de Madeira</vt:lpstr>
      <vt:lpstr>Apresentação do PowerPoint</vt:lpstr>
      <vt:lpstr>Apresentação do PowerPoint</vt:lpstr>
      <vt:lpstr>Acessar no laboratório </vt:lpstr>
      <vt:lpstr>Acessar o IDE PyCharm no laboratório</vt:lpstr>
      <vt:lpstr>Escrevendo seu primeiro programa</vt:lpstr>
      <vt:lpstr>Erro de sintaxe</vt:lpstr>
      <vt:lpstr>Aspas simples ou duplas</vt:lpstr>
      <vt:lpstr>Explicando a função “print”</vt:lpstr>
      <vt:lpstr>Nova linha após “print”</vt:lpstr>
      <vt:lpstr>Literal (string)</vt:lpstr>
      <vt:lpstr>“Força” nova linha (\n)</vt:lpstr>
      <vt:lpstr>Apresentação do PowerPoint</vt:lpstr>
      <vt:lpstr>Apresentação do PowerPoint</vt:lpstr>
      <vt:lpstr>Apresentação do PowerPoint</vt:lpstr>
      <vt:lpstr>Expressões com números inteiros</vt:lpstr>
      <vt:lpstr>Número x Literal (String)</vt:lpstr>
      <vt:lpstr>Apresentação do PowerPoint</vt:lpstr>
      <vt:lpstr>Expressões com números de ponto flutuante</vt:lpstr>
      <vt:lpstr>Ponto decimal (notação americana)</vt:lpstr>
      <vt:lpstr>Aproximação</vt:lpstr>
      <vt:lpstr>Divisão sempre produz número de ponto flutuante</vt:lpstr>
      <vt:lpstr>Apresentação do PowerPoint</vt:lpstr>
      <vt:lpstr>Apresentação do PowerPoint</vt:lpstr>
      <vt:lpstr>Tópicos vistos neste capítulo</vt:lpstr>
      <vt:lpstr>Referências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Programação – Linguagens e Métodos Formais</dc:title>
  <dc:subject/>
  <dc:creator>Raul Sidnei Wazlawick</dc:creator>
  <cp:keywords/>
  <dc:description/>
  <cp:lastModifiedBy>Admin</cp:lastModifiedBy>
  <cp:revision>156</cp:revision>
  <dcterms:created xsi:type="dcterms:W3CDTF">2018-02-23T13:01:13Z</dcterms:created>
  <dcterms:modified xsi:type="dcterms:W3CDTF">2026-07-30T12:41:12Z</dcterms:modified>
  <cp:category/>
  <dc:identifier/>
  <cp:contentStatus/>
  <dc:language/>
  <cp:version/>
</cp:coreProperties>
</file>